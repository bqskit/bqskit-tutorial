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441" r:id="rId5"/>
    <p:sldId id="365" r:id="rId6"/>
    <p:sldId id="445" r:id="rId7"/>
    <p:sldId id="442" r:id="rId8"/>
    <p:sldId id="361" r:id="rId9"/>
    <p:sldId id="367" r:id="rId10"/>
    <p:sldId id="368" r:id="rId11"/>
    <p:sldId id="380" r:id="rId12"/>
    <p:sldId id="321" r:id="rId13"/>
    <p:sldId id="443" r:id="rId14"/>
    <p:sldId id="381" r:id="rId15"/>
    <p:sldId id="382" r:id="rId16"/>
    <p:sldId id="444" r:id="rId17"/>
    <p:sldId id="35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8" orient="horz" pos="4320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666A"/>
    <a:srgbClr val="313C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B8DA8D-7465-4A57-B059-33C5619A2B75}" v="12" dt="2025-08-31T04:59:38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8"/>
    <p:restoredTop sz="96327"/>
  </p:normalViewPr>
  <p:slideViewPr>
    <p:cSldViewPr snapToGrid="0" snapToObjects="1" showGuides="1">
      <p:cViewPr varScale="1">
        <p:scale>
          <a:sx n="118" d="100"/>
          <a:sy n="118" d="100"/>
        </p:scale>
        <p:origin x="108" y="288"/>
      </p:cViewPr>
      <p:guideLst>
        <p:guide pos="3840"/>
        <p:guide orient="horz" pos="432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D39A6-77E7-444E-A642-9A63D17658CA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23C63-8C3D-434D-B393-CC73251942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181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5E984D-96FD-2C4B-AC84-701CA62C147F}" type="datetimeFigureOut">
              <a:rPr lang="en-US" smtClean="0"/>
              <a:t>8/30/2025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DD09A-A7EA-F240-8C4A-3FAABB2D80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1134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201766" y="-141165"/>
            <a:ext cx="12586564" cy="7136527"/>
            <a:chOff x="-151325" y="-141165"/>
            <a:chExt cx="9439923" cy="7136527"/>
          </a:xfrm>
        </p:grpSpPr>
        <p:grpSp>
          <p:nvGrpSpPr>
            <p:cNvPr id="9" name="Group 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118" name="Straight Connector 11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51" name="Straight Connector 15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1" name="Group 12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9" name="Straight Connector 14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Group 12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7" name="Straight Connector 14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3" name="Group 12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5" name="Straight Connector 14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4" name="Group 12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3" name="Straight Connector 14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5" name="Group 12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1" name="Straight Connector 14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6" name="Group 12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9" name="Straight Connector 1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7" name="Group 12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7" name="Straight Connector 1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8" name="Group 12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5" name="Straight Connector 1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9" name="Group 12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3" name="Straight Connector 1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0" name="Group 12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1" name="Straight Connector 1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" name="Group 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83" name="Straight Connector 8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" name="Group 8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6" name="Straight Connector 1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Group 8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4" name="Straight Connector 1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2" name="Straight Connector 1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7" name="Group 8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0" name="Straight Connector 1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" name="Group 8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8" name="Straight Connector 1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" name="Group 8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6" name="Straight Connector 1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" name="Group 8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4" name="Straight Connector 1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Group 9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2" name="Straight Connector 1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" name="Group 9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0" name="Straight Connector 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3" name="Group 9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98" name="Straight Connector 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4" name="Group 9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96" name="Straight Connector 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5" name="Straight Connector 9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48" name="Straight Connector 4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81" name="Straight Connector 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Group 4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9" name="Straight Connector 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7" name="Straight Connector 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" name="Group 5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5" name="Straight Connector 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Group 5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3" name="Straight Connector 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Group 5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1" name="Straight Connector 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Group 5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9" name="Straight Connector 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Group 5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7" name="Straight Connector 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5" name="Straight Connector 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Group 5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3" name="Straight Connector 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" name="Group 5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1" name="Straight Connector 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0" name="Straight Connector 5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3" name="Straight Connector 1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Group 1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6" name="Straight Connector 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" name="Straight Connector 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oup 1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" name="Straight Connector 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oup 1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0" name="Straight Connector 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8" name="Straight Connector 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6" name="Straight Connector 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oup 2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4" name="Straight Connector 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Group 2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oup 2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Picture Placeholder 154">
            <a:extLst>
              <a:ext uri="{FF2B5EF4-FFF2-40B4-BE49-F238E27FC236}">
                <a16:creationId xmlns:a16="http://schemas.microsoft.com/office/drawing/2014/main" id="{DDEDD069-6DED-8E45-89A4-F1AB098B03F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314801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B34909-93F8-AB34-E9EE-925002D2F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059" y="3321097"/>
            <a:ext cx="10968916" cy="809919"/>
          </a:xfrm>
        </p:spPr>
        <p:txBody>
          <a:bodyPr anchor="b" anchorCtr="0">
            <a:noAutofit/>
          </a:bodyPr>
          <a:lstStyle>
            <a:lvl1pPr algn="ctr">
              <a:defRPr sz="54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529723A-0ED1-367A-9D2C-BABA5E020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059" y="4298665"/>
            <a:ext cx="10968916" cy="357392"/>
          </a:xfrm>
        </p:spPr>
        <p:txBody>
          <a:bodyPr>
            <a:noAutofit/>
          </a:bodyPr>
          <a:lstStyle>
            <a:lvl1pPr marL="0" indent="0" algn="ctr" fontAlgn="ctr">
              <a:buNone/>
              <a:defRPr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53">
            <a:extLst>
              <a:ext uri="{FF2B5EF4-FFF2-40B4-BE49-F238E27FC236}">
                <a16:creationId xmlns:a16="http://schemas.microsoft.com/office/drawing/2014/main" id="{CC7F8844-80B2-98D7-0136-9E1A3E3292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059" y="4825577"/>
            <a:ext cx="10968916" cy="267972"/>
          </a:xfrm>
        </p:spPr>
        <p:txBody>
          <a:bodyPr>
            <a:noAutofit/>
          </a:bodyPr>
          <a:lstStyle>
            <a:lvl1pPr marL="0" indent="0" algn="ctr">
              <a:buNone/>
              <a:defRPr sz="12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6" name="Picture 155" descr="A close up of a sign&#10;&#10;Description automatically generated">
            <a:extLst>
              <a:ext uri="{FF2B5EF4-FFF2-40B4-BE49-F238E27FC236}">
                <a16:creationId xmlns:a16="http://schemas.microsoft.com/office/drawing/2014/main" id="{8115D405-C31C-D4D0-C5AF-38ED65FB54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7480" y="5618480"/>
            <a:ext cx="3200400" cy="817306"/>
          </a:xfrm>
          <a:prstGeom prst="rect">
            <a:avLst/>
          </a:prstGeom>
        </p:spPr>
      </p:pic>
      <p:pic>
        <p:nvPicPr>
          <p:cNvPr id="157" name="Picture 156" descr="A close up of a sign&#10;&#10;Description automatically generated">
            <a:extLst>
              <a:ext uri="{FF2B5EF4-FFF2-40B4-BE49-F238E27FC236}">
                <a16:creationId xmlns:a16="http://schemas.microsoft.com/office/drawing/2014/main" id="{22939852-8B5D-F7B3-B559-8B03B9741B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09446" y="5680486"/>
            <a:ext cx="1773936" cy="574312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F3AED96A-6712-5115-6A13-BB76C1D92D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4120" y="5544672"/>
            <a:ext cx="1415143" cy="849086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3A607ED9-97E4-5261-035F-AB43F928172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3047" y="5541905"/>
            <a:ext cx="1702948" cy="85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1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" y="457200"/>
            <a:ext cx="10972799" cy="1143001"/>
          </a:xfrm>
        </p:spPr>
        <p:txBody>
          <a:bodyPr wrap="square" anchor="t" anchorCtr="0"/>
          <a:lstStyle>
            <a:lvl1pPr>
              <a:defRPr b="1" i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" y="1600201"/>
            <a:ext cx="10972800" cy="4508499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 marL="457200" indent="-228600">
              <a:spcBef>
                <a:spcPts val="380"/>
              </a:spcBef>
              <a:buClr>
                <a:schemeClr val="accent2"/>
              </a:buClr>
              <a:defRPr baseline="0">
                <a:latin typeface="Arial" panose="020B0604020202020204" pitchFamily="34" charset="0"/>
              </a:defRPr>
            </a:lvl2pPr>
            <a:lvl3pPr>
              <a:buClr>
                <a:schemeClr val="accent2"/>
              </a:buClr>
              <a:defRPr baseline="0">
                <a:latin typeface="Arial" panose="020B0604020202020204" pitchFamily="34" charset="0"/>
              </a:defRPr>
            </a:lvl3pPr>
            <a:lvl4pPr>
              <a:buClr>
                <a:schemeClr val="accent2"/>
              </a:buClr>
              <a:defRPr baseline="0">
                <a:latin typeface="Arial" panose="020B0604020202020204" pitchFamily="34" charset="0"/>
              </a:defRPr>
            </a:lvl4pPr>
            <a:lvl5pPr>
              <a:buClr>
                <a:schemeClr val="accent2"/>
              </a:buClr>
              <a:defRPr baseline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3801233-B494-458A-9076-9F92240015DC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0780A9-DDE5-C958-DB82-0321F1219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11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618" y="457200"/>
            <a:ext cx="10972800" cy="548640"/>
          </a:xfrm>
        </p:spPr>
        <p:txBody>
          <a:bodyPr anchor="t" anchorCtr="0"/>
          <a:lstStyle>
            <a:lvl1pPr>
              <a:defRPr sz="3200" b="1" i="0" cap="none" baseline="0">
                <a:solidFill>
                  <a:srgbClr val="313C5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616" y="1600201"/>
            <a:ext cx="11008784" cy="4495799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76072" y="1055688"/>
            <a:ext cx="10936816" cy="457200"/>
          </a:xfrm>
        </p:spPr>
        <p:txBody>
          <a:bodyPr anchor="b" anchorCtr="0"/>
          <a:lstStyle>
            <a:lvl1pPr marL="0" indent="0">
              <a:buNone/>
              <a:defRPr sz="2000" i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9A09C0-DCA8-BA45-84BB-3CD9C9C7BF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/>
          <a:lstStyle/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C759847-4C01-4C62-D009-428EA52924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594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" y="1864177"/>
            <a:ext cx="10963079" cy="1362075"/>
          </a:xfrm>
        </p:spPr>
        <p:txBody>
          <a:bodyPr anchor="b" anchorCtr="0">
            <a:noAutofit/>
          </a:bodyPr>
          <a:lstStyle>
            <a:lvl1pPr algn="ctr">
              <a:defRPr sz="5400" b="1" i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72" y="3667126"/>
            <a:ext cx="10963079" cy="975895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576072" y="5083895"/>
            <a:ext cx="10963079" cy="1268528"/>
          </a:xfrm>
        </p:spPr>
        <p:txBody>
          <a:bodyPr>
            <a:noAutofit/>
          </a:bodyPr>
          <a:lstStyle>
            <a:lvl1pPr algn="ctr">
              <a:lnSpc>
                <a:spcPct val="110000"/>
              </a:lnSpc>
              <a:spcAft>
                <a:spcPts val="600"/>
              </a:spcAft>
              <a:buNone/>
              <a:defRPr sz="1100" b="0" i="0" baseline="0">
                <a:solidFill>
                  <a:schemeClr val="tx1"/>
                </a:solidFill>
                <a:latin typeface="+mn-lt"/>
              </a:defRPr>
            </a:lvl1pPr>
            <a:lvl2pPr>
              <a:defRPr sz="1100" b="0" i="0">
                <a:solidFill>
                  <a:schemeClr val="tx2"/>
                </a:solidFill>
                <a:latin typeface="+mj-lt"/>
              </a:defRPr>
            </a:lvl2pPr>
            <a:lvl3pPr>
              <a:defRPr sz="1100" b="0" i="0">
                <a:solidFill>
                  <a:schemeClr val="tx2"/>
                </a:solidFill>
                <a:latin typeface="+mj-lt"/>
              </a:defRPr>
            </a:lvl3pPr>
            <a:lvl4pPr>
              <a:defRPr sz="1100" b="0" i="0">
                <a:solidFill>
                  <a:schemeClr val="tx2"/>
                </a:solidFill>
                <a:latin typeface="+mj-lt"/>
              </a:defRPr>
            </a:lvl4pPr>
            <a:lvl5pPr>
              <a:defRPr sz="11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14460" y="4931494"/>
            <a:ext cx="10963080" cy="0"/>
          </a:xfrm>
          <a:prstGeom prst="line">
            <a:avLst/>
          </a:prstGeom>
          <a:ln w="635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CE41D86-DD9C-C630-47A0-AD5B6B6B4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6C8D42-3288-D80C-4327-DE5119BEE9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300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" y="1828800"/>
            <a:ext cx="10963079" cy="1362075"/>
          </a:xfrm>
        </p:spPr>
        <p:txBody>
          <a:bodyPr anchor="b" anchorCtr="0">
            <a:noAutofit/>
          </a:bodyPr>
          <a:lstStyle>
            <a:lvl1pPr algn="ctr">
              <a:defRPr sz="5400" b="1" i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72" y="3657600"/>
            <a:ext cx="10963079" cy="975895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 i="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576072" y="5029200"/>
            <a:ext cx="10972091" cy="1268528"/>
          </a:xfrm>
        </p:spPr>
        <p:txBody>
          <a:bodyPr>
            <a:noAutofit/>
          </a:bodyPr>
          <a:lstStyle>
            <a:lvl1pPr algn="ctr">
              <a:lnSpc>
                <a:spcPct val="110000"/>
              </a:lnSpc>
              <a:spcAft>
                <a:spcPts val="600"/>
              </a:spcAft>
              <a:buNone/>
              <a:defRPr sz="1100" b="1" i="0" baseline="0">
                <a:solidFill>
                  <a:schemeClr val="bg1"/>
                </a:solidFill>
                <a:latin typeface="+mn-lt"/>
              </a:defRPr>
            </a:lvl1pPr>
            <a:lvl2pPr>
              <a:defRPr sz="1100" b="0" i="0">
                <a:solidFill>
                  <a:schemeClr val="tx2"/>
                </a:solidFill>
                <a:latin typeface="+mj-lt"/>
              </a:defRPr>
            </a:lvl2pPr>
            <a:lvl3pPr>
              <a:defRPr sz="1100" b="0" i="0">
                <a:solidFill>
                  <a:schemeClr val="tx2"/>
                </a:solidFill>
                <a:latin typeface="+mj-lt"/>
              </a:defRPr>
            </a:lvl3pPr>
            <a:lvl4pPr>
              <a:defRPr sz="1100" b="0" i="0">
                <a:solidFill>
                  <a:schemeClr val="tx2"/>
                </a:solidFill>
                <a:latin typeface="+mj-lt"/>
              </a:defRPr>
            </a:lvl4pPr>
            <a:lvl5pPr>
              <a:defRPr sz="11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5003DAF-5E2B-4ABF-5084-93B66439E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0EE0E6-B90F-7F70-4D6F-56BAC912E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48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6072" y="1600201"/>
            <a:ext cx="5384800" cy="4525963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defRPr sz="1800"/>
            </a:lvl1pPr>
            <a:lvl2pPr marL="457200" indent="-228600">
              <a:lnSpc>
                <a:spcPct val="110000"/>
              </a:lnSpc>
              <a:spcBef>
                <a:spcPts val="300"/>
              </a:spcBef>
              <a:buClr>
                <a:schemeClr val="accent2"/>
              </a:buClr>
              <a:defRPr sz="1800"/>
            </a:lvl2pPr>
            <a:lvl3pPr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defRPr sz="1800"/>
            </a:lvl4pPr>
            <a:lvl5pPr>
              <a:buClr>
                <a:schemeClr val="accent2"/>
              </a:buCl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defRPr sz="1800"/>
            </a:lvl1pPr>
            <a:lvl2pPr marL="457200" indent="-228600">
              <a:lnSpc>
                <a:spcPct val="110000"/>
              </a:lnSpc>
              <a:spcBef>
                <a:spcPts val="300"/>
              </a:spcBef>
              <a:buClr>
                <a:schemeClr val="accent2"/>
              </a:buClr>
              <a:defRPr sz="1800"/>
            </a:lvl2pPr>
            <a:lvl3pPr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defRPr sz="1800"/>
            </a:lvl3pPr>
            <a:lvl4pPr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defRPr sz="1800"/>
            </a:lvl4pPr>
            <a:lvl5pPr>
              <a:buClr>
                <a:schemeClr val="accent2"/>
              </a:buCl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6071" y="457200"/>
            <a:ext cx="10972800" cy="548640"/>
          </a:xfrm>
        </p:spPr>
        <p:txBody>
          <a:bodyPr anchor="t" anchorCtr="0"/>
          <a:lstStyle>
            <a:lvl1pPr>
              <a:defRPr b="1" i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76072" y="1055688"/>
            <a:ext cx="10972800" cy="457200"/>
          </a:xfrm>
        </p:spPr>
        <p:txBody>
          <a:bodyPr anchor="b" anchorCtr="0"/>
          <a:lstStyle>
            <a:lvl1pPr marL="0" indent="0">
              <a:buNone/>
              <a:defRPr sz="200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BF57AE4-1EF5-BCFC-7AF3-EEE048D97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92111C-0B71-8CD1-0C16-A18513D30D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2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72" y="1535113"/>
            <a:ext cx="5386917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6072" y="2174875"/>
            <a:ext cx="5386917" cy="3951288"/>
          </a:xfrm>
        </p:spPr>
        <p:txBody>
          <a:bodyPr>
            <a:noAutofit/>
          </a:bodyPr>
          <a:lstStyle>
            <a:lvl1pPr>
              <a:buClr>
                <a:schemeClr val="accent2"/>
              </a:buClr>
              <a:defRPr sz="1800"/>
            </a:lvl1pPr>
            <a:lvl2pPr>
              <a:buClr>
                <a:schemeClr val="accent2"/>
              </a:buClr>
              <a:defRPr sz="18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800"/>
            </a:lvl4pPr>
            <a:lvl5pPr>
              <a:buClr>
                <a:schemeClr val="accent2"/>
              </a:buCl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>
            <a:noAutofit/>
          </a:bodyPr>
          <a:lstStyle>
            <a:lvl1pPr>
              <a:buClr>
                <a:schemeClr val="accent2"/>
              </a:buClr>
              <a:defRPr sz="1800"/>
            </a:lvl1pPr>
            <a:lvl2pPr>
              <a:buClr>
                <a:schemeClr val="accent2"/>
              </a:buClr>
              <a:defRPr sz="18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800"/>
            </a:lvl4pPr>
            <a:lvl5pPr>
              <a:buClr>
                <a:schemeClr val="accent2"/>
              </a:buCl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73618" y="457200"/>
            <a:ext cx="10972800" cy="54864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76071" y="1055688"/>
            <a:ext cx="10972800" cy="457200"/>
          </a:xfrm>
        </p:spPr>
        <p:txBody>
          <a:bodyPr anchor="b" anchorCtr="0"/>
          <a:lstStyle>
            <a:lvl1pPr marL="0" indent="0">
              <a:buNone/>
              <a:defRPr sz="200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6E293DD-5679-2AB6-7325-2F4E4B19EEDC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9D4345-D2A0-7DB8-C338-DEFE129EF8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6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" y="1816102"/>
            <a:ext cx="3520837" cy="4261104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1" name="Content Placeholder 2"/>
          <p:cNvSpPr>
            <a:spLocks noGrp="1"/>
          </p:cNvSpPr>
          <p:nvPr>
            <p:ph idx="11"/>
          </p:nvPr>
        </p:nvSpPr>
        <p:spPr>
          <a:xfrm>
            <a:off x="4329867" y="1816102"/>
            <a:ext cx="3520837" cy="426186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3" name="Content Placeholder 2"/>
          <p:cNvSpPr>
            <a:spLocks noGrp="1"/>
          </p:cNvSpPr>
          <p:nvPr>
            <p:ph idx="12"/>
          </p:nvPr>
        </p:nvSpPr>
        <p:spPr>
          <a:xfrm>
            <a:off x="8058383" y="1816102"/>
            <a:ext cx="3520837" cy="426186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6" name="Straight Connector 275"/>
          <p:cNvCxnSpPr/>
          <p:nvPr userDrawn="1"/>
        </p:nvCxnSpPr>
        <p:spPr>
          <a:xfrm>
            <a:off x="610308" y="6873248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/>
          <p:cNvCxnSpPr/>
          <p:nvPr userDrawn="1"/>
        </p:nvCxnSpPr>
        <p:spPr>
          <a:xfrm>
            <a:off x="11579225" y="6873248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Group 277"/>
          <p:cNvGrpSpPr/>
          <p:nvPr userDrawn="1"/>
        </p:nvGrpSpPr>
        <p:grpSpPr>
          <a:xfrm>
            <a:off x="10648211" y="6873248"/>
            <a:ext cx="203200" cy="122115"/>
            <a:chOff x="7983415" y="6582508"/>
            <a:chExt cx="152400" cy="486507"/>
          </a:xfrm>
        </p:grpSpPr>
        <p:cxnSp>
          <p:nvCxnSpPr>
            <p:cNvPr id="309" name="Straight Connector 30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Group 278"/>
          <p:cNvGrpSpPr/>
          <p:nvPr userDrawn="1"/>
        </p:nvGrpSpPr>
        <p:grpSpPr>
          <a:xfrm>
            <a:off x="9717201" y="6873248"/>
            <a:ext cx="203200" cy="122115"/>
            <a:chOff x="7983415" y="6582508"/>
            <a:chExt cx="152400" cy="486507"/>
          </a:xfrm>
        </p:grpSpPr>
        <p:cxnSp>
          <p:nvCxnSpPr>
            <p:cNvPr id="307" name="Straight Connector 30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/>
          <p:cNvGrpSpPr/>
          <p:nvPr userDrawn="1"/>
        </p:nvGrpSpPr>
        <p:grpSpPr>
          <a:xfrm>
            <a:off x="8786192" y="6873248"/>
            <a:ext cx="203200" cy="122115"/>
            <a:chOff x="7983415" y="6582508"/>
            <a:chExt cx="152400" cy="486507"/>
          </a:xfrm>
        </p:grpSpPr>
        <p:cxnSp>
          <p:nvCxnSpPr>
            <p:cNvPr id="305" name="Straight Connector 30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280"/>
          <p:cNvGrpSpPr/>
          <p:nvPr userDrawn="1"/>
        </p:nvGrpSpPr>
        <p:grpSpPr>
          <a:xfrm>
            <a:off x="7855183" y="6873248"/>
            <a:ext cx="203200" cy="122115"/>
            <a:chOff x="7983415" y="6582508"/>
            <a:chExt cx="152400" cy="486507"/>
          </a:xfrm>
        </p:grpSpPr>
        <p:cxnSp>
          <p:nvCxnSpPr>
            <p:cNvPr id="303" name="Straight Connector 30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/>
          <p:cNvGrpSpPr/>
          <p:nvPr userDrawn="1"/>
        </p:nvGrpSpPr>
        <p:grpSpPr>
          <a:xfrm>
            <a:off x="6924173" y="6873248"/>
            <a:ext cx="203200" cy="122115"/>
            <a:chOff x="7983415" y="6582508"/>
            <a:chExt cx="152400" cy="486507"/>
          </a:xfrm>
        </p:grpSpPr>
        <p:cxnSp>
          <p:nvCxnSpPr>
            <p:cNvPr id="301" name="Straight Connector 30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Group 282"/>
          <p:cNvGrpSpPr/>
          <p:nvPr userDrawn="1"/>
        </p:nvGrpSpPr>
        <p:grpSpPr>
          <a:xfrm>
            <a:off x="5993164" y="6873248"/>
            <a:ext cx="203200" cy="122115"/>
            <a:chOff x="7983415" y="6582508"/>
            <a:chExt cx="152400" cy="486507"/>
          </a:xfrm>
        </p:grpSpPr>
        <p:cxnSp>
          <p:nvCxnSpPr>
            <p:cNvPr id="299" name="Straight Connector 29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/>
          <p:cNvGrpSpPr/>
          <p:nvPr userDrawn="1"/>
        </p:nvGrpSpPr>
        <p:grpSpPr>
          <a:xfrm>
            <a:off x="5062155" y="6873248"/>
            <a:ext cx="203200" cy="122115"/>
            <a:chOff x="7983415" y="6582508"/>
            <a:chExt cx="152400" cy="486507"/>
          </a:xfrm>
        </p:grpSpPr>
        <p:cxnSp>
          <p:nvCxnSpPr>
            <p:cNvPr id="297" name="Straight Connector 29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Group 284"/>
          <p:cNvGrpSpPr/>
          <p:nvPr userDrawn="1"/>
        </p:nvGrpSpPr>
        <p:grpSpPr>
          <a:xfrm>
            <a:off x="4131145" y="6873248"/>
            <a:ext cx="203200" cy="122115"/>
            <a:chOff x="7983415" y="6582508"/>
            <a:chExt cx="152400" cy="486507"/>
          </a:xfrm>
        </p:grpSpPr>
        <p:cxnSp>
          <p:nvCxnSpPr>
            <p:cNvPr id="295" name="Straight Connector 29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6" name="Group 285"/>
          <p:cNvGrpSpPr/>
          <p:nvPr userDrawn="1"/>
        </p:nvGrpSpPr>
        <p:grpSpPr>
          <a:xfrm>
            <a:off x="3200136" y="6873248"/>
            <a:ext cx="203200" cy="122115"/>
            <a:chOff x="7983415" y="6582508"/>
            <a:chExt cx="152400" cy="486507"/>
          </a:xfrm>
        </p:grpSpPr>
        <p:cxnSp>
          <p:nvCxnSpPr>
            <p:cNvPr id="293" name="Straight Connector 29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Group 286"/>
          <p:cNvGrpSpPr/>
          <p:nvPr userDrawn="1"/>
        </p:nvGrpSpPr>
        <p:grpSpPr>
          <a:xfrm>
            <a:off x="2269127" y="6873248"/>
            <a:ext cx="203200" cy="122115"/>
            <a:chOff x="7983415" y="6582508"/>
            <a:chExt cx="152400" cy="486507"/>
          </a:xfrm>
        </p:grpSpPr>
        <p:cxnSp>
          <p:nvCxnSpPr>
            <p:cNvPr id="291" name="Straight Connector 29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8" name="Group 287"/>
          <p:cNvGrpSpPr/>
          <p:nvPr userDrawn="1"/>
        </p:nvGrpSpPr>
        <p:grpSpPr>
          <a:xfrm>
            <a:off x="1338117" y="6873248"/>
            <a:ext cx="203200" cy="122115"/>
            <a:chOff x="7983415" y="6582508"/>
            <a:chExt cx="152400" cy="486507"/>
          </a:xfrm>
        </p:grpSpPr>
        <p:cxnSp>
          <p:nvCxnSpPr>
            <p:cNvPr id="289" name="Straight Connector 28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Straight Connector 240"/>
          <p:cNvCxnSpPr/>
          <p:nvPr userDrawn="1"/>
        </p:nvCxnSpPr>
        <p:spPr>
          <a:xfrm rot="5400000">
            <a:off x="-120356" y="372597"/>
            <a:ext cx="0" cy="16282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 userDrawn="1"/>
        </p:nvGrpSpPr>
        <p:grpSpPr>
          <a:xfrm rot="5400000">
            <a:off x="-196556" y="5920357"/>
            <a:ext cx="152400" cy="162820"/>
            <a:chOff x="7983415" y="6582508"/>
            <a:chExt cx="152400" cy="486507"/>
          </a:xfrm>
        </p:grpSpPr>
        <p:cxnSp>
          <p:nvCxnSpPr>
            <p:cNvPr id="274" name="Straight Connector 27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/>
          <p:cNvGrpSpPr/>
          <p:nvPr userDrawn="1"/>
        </p:nvGrpSpPr>
        <p:grpSpPr>
          <a:xfrm rot="5400000">
            <a:off x="-196556" y="5446715"/>
            <a:ext cx="152400" cy="162820"/>
            <a:chOff x="7983415" y="6582508"/>
            <a:chExt cx="152400" cy="486507"/>
          </a:xfrm>
        </p:grpSpPr>
        <p:cxnSp>
          <p:nvCxnSpPr>
            <p:cNvPr id="272" name="Straight Connector 27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243"/>
          <p:cNvGrpSpPr/>
          <p:nvPr userDrawn="1"/>
        </p:nvGrpSpPr>
        <p:grpSpPr>
          <a:xfrm rot="5400000">
            <a:off x="-196556" y="4973073"/>
            <a:ext cx="152400" cy="162820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 rot="5400000">
            <a:off x="-196556" y="4499431"/>
            <a:ext cx="152400" cy="162820"/>
            <a:chOff x="7983415" y="6582508"/>
            <a:chExt cx="152400" cy="486507"/>
          </a:xfrm>
        </p:grpSpPr>
        <p:cxnSp>
          <p:nvCxnSpPr>
            <p:cNvPr id="268" name="Straight Connector 26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Group 245"/>
          <p:cNvGrpSpPr/>
          <p:nvPr userDrawn="1"/>
        </p:nvGrpSpPr>
        <p:grpSpPr>
          <a:xfrm rot="5400000">
            <a:off x="-196556" y="4025789"/>
            <a:ext cx="152400" cy="162820"/>
            <a:chOff x="7983415" y="6582508"/>
            <a:chExt cx="152400" cy="486507"/>
          </a:xfrm>
        </p:grpSpPr>
        <p:cxnSp>
          <p:nvCxnSpPr>
            <p:cNvPr id="266" name="Straight Connector 26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/>
          <p:cNvGrpSpPr/>
          <p:nvPr userDrawn="1"/>
        </p:nvGrpSpPr>
        <p:grpSpPr>
          <a:xfrm rot="5400000">
            <a:off x="-196556" y="3552147"/>
            <a:ext cx="152400" cy="162820"/>
            <a:chOff x="7983415" y="6582508"/>
            <a:chExt cx="152400" cy="486507"/>
          </a:xfrm>
        </p:grpSpPr>
        <p:cxnSp>
          <p:nvCxnSpPr>
            <p:cNvPr id="264" name="Straight Connector 2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 rot="5400000">
            <a:off x="-196556" y="3078505"/>
            <a:ext cx="152400" cy="162820"/>
            <a:chOff x="7983415" y="6582508"/>
            <a:chExt cx="152400" cy="486507"/>
          </a:xfrm>
        </p:grpSpPr>
        <p:cxnSp>
          <p:nvCxnSpPr>
            <p:cNvPr id="262" name="Straight Connector 26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Group 248"/>
          <p:cNvGrpSpPr/>
          <p:nvPr userDrawn="1"/>
        </p:nvGrpSpPr>
        <p:grpSpPr>
          <a:xfrm rot="5400000">
            <a:off x="-196556" y="2604863"/>
            <a:ext cx="152400" cy="162820"/>
            <a:chOff x="7983415" y="6582508"/>
            <a:chExt cx="152400" cy="486507"/>
          </a:xfrm>
        </p:grpSpPr>
        <p:cxnSp>
          <p:nvCxnSpPr>
            <p:cNvPr id="260" name="Straight Connector 25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0" name="Group 249"/>
          <p:cNvGrpSpPr/>
          <p:nvPr userDrawn="1"/>
        </p:nvGrpSpPr>
        <p:grpSpPr>
          <a:xfrm rot="5400000">
            <a:off x="-196556" y="2131221"/>
            <a:ext cx="152400" cy="162820"/>
            <a:chOff x="7983415" y="6582508"/>
            <a:chExt cx="152400" cy="486507"/>
          </a:xfrm>
        </p:grpSpPr>
        <p:cxnSp>
          <p:nvCxnSpPr>
            <p:cNvPr id="258" name="Straight Connector 2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/>
          <p:cNvGrpSpPr/>
          <p:nvPr userDrawn="1"/>
        </p:nvGrpSpPr>
        <p:grpSpPr>
          <a:xfrm rot="5400000">
            <a:off x="-196556" y="1657579"/>
            <a:ext cx="152400" cy="162820"/>
            <a:chOff x="7983415" y="6582508"/>
            <a:chExt cx="152400" cy="486507"/>
          </a:xfrm>
        </p:grpSpPr>
        <p:cxnSp>
          <p:nvCxnSpPr>
            <p:cNvPr id="256" name="Straight Connector 25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Group 251"/>
          <p:cNvGrpSpPr/>
          <p:nvPr userDrawn="1"/>
        </p:nvGrpSpPr>
        <p:grpSpPr>
          <a:xfrm rot="5400000">
            <a:off x="-196556" y="976988"/>
            <a:ext cx="152400" cy="162820"/>
            <a:chOff x="7983415" y="6582508"/>
            <a:chExt cx="152400" cy="486507"/>
          </a:xfrm>
        </p:grpSpPr>
        <p:cxnSp>
          <p:nvCxnSpPr>
            <p:cNvPr id="254" name="Straight Connector 25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3" name="Straight Connector 252"/>
          <p:cNvCxnSpPr/>
          <p:nvPr userDrawn="1"/>
        </p:nvCxnSpPr>
        <p:spPr>
          <a:xfrm rot="5400000">
            <a:off x="-120356" y="6317802"/>
            <a:ext cx="0" cy="16282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 userDrawn="1"/>
        </p:nvCxnSpPr>
        <p:spPr>
          <a:xfrm rot="5400000">
            <a:off x="12303388" y="372597"/>
            <a:ext cx="0" cy="16282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Group 206"/>
          <p:cNvGrpSpPr/>
          <p:nvPr userDrawn="1"/>
        </p:nvGrpSpPr>
        <p:grpSpPr>
          <a:xfrm rot="5400000">
            <a:off x="12227188" y="5920357"/>
            <a:ext cx="152400" cy="162820"/>
            <a:chOff x="7983415" y="6582508"/>
            <a:chExt cx="152400" cy="486507"/>
          </a:xfrm>
        </p:grpSpPr>
        <p:cxnSp>
          <p:nvCxnSpPr>
            <p:cNvPr id="239" name="Straight Connector 2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Group 207"/>
          <p:cNvGrpSpPr/>
          <p:nvPr userDrawn="1"/>
        </p:nvGrpSpPr>
        <p:grpSpPr>
          <a:xfrm rot="5400000">
            <a:off x="12227188" y="5446715"/>
            <a:ext cx="152400" cy="162820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/>
          <p:cNvGrpSpPr/>
          <p:nvPr userDrawn="1"/>
        </p:nvGrpSpPr>
        <p:grpSpPr>
          <a:xfrm rot="5400000">
            <a:off x="12227188" y="4973073"/>
            <a:ext cx="152400" cy="162820"/>
            <a:chOff x="7983415" y="6582508"/>
            <a:chExt cx="152400" cy="486507"/>
          </a:xfrm>
        </p:grpSpPr>
        <p:cxnSp>
          <p:nvCxnSpPr>
            <p:cNvPr id="235" name="Straight Connector 23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0" name="Group 209"/>
          <p:cNvGrpSpPr/>
          <p:nvPr userDrawn="1"/>
        </p:nvGrpSpPr>
        <p:grpSpPr>
          <a:xfrm rot="5400000">
            <a:off x="12227188" y="4499431"/>
            <a:ext cx="152400" cy="162820"/>
            <a:chOff x="7983415" y="6582508"/>
            <a:chExt cx="152400" cy="486507"/>
          </a:xfrm>
        </p:grpSpPr>
        <p:cxnSp>
          <p:nvCxnSpPr>
            <p:cNvPr id="233" name="Straight Connector 2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/>
          <p:cNvGrpSpPr/>
          <p:nvPr userDrawn="1"/>
        </p:nvGrpSpPr>
        <p:grpSpPr>
          <a:xfrm rot="5400000">
            <a:off x="12227188" y="4025789"/>
            <a:ext cx="152400" cy="162820"/>
            <a:chOff x="7983415" y="6582508"/>
            <a:chExt cx="152400" cy="486507"/>
          </a:xfrm>
        </p:grpSpPr>
        <p:cxnSp>
          <p:nvCxnSpPr>
            <p:cNvPr id="231" name="Straight Connector 23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/>
          <p:cNvGrpSpPr/>
          <p:nvPr userDrawn="1"/>
        </p:nvGrpSpPr>
        <p:grpSpPr>
          <a:xfrm rot="5400000">
            <a:off x="12227188" y="3552147"/>
            <a:ext cx="152400" cy="162820"/>
            <a:chOff x="7983415" y="6582508"/>
            <a:chExt cx="152400" cy="486507"/>
          </a:xfrm>
        </p:grpSpPr>
        <p:cxnSp>
          <p:nvCxnSpPr>
            <p:cNvPr id="229" name="Straight Connector 2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/>
          <p:cNvGrpSpPr/>
          <p:nvPr userDrawn="1"/>
        </p:nvGrpSpPr>
        <p:grpSpPr>
          <a:xfrm rot="5400000">
            <a:off x="12227188" y="3078505"/>
            <a:ext cx="152400" cy="162820"/>
            <a:chOff x="7983415" y="6582508"/>
            <a:chExt cx="152400" cy="486507"/>
          </a:xfrm>
        </p:grpSpPr>
        <p:cxnSp>
          <p:nvCxnSpPr>
            <p:cNvPr id="227" name="Straight Connector 22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oup 213"/>
          <p:cNvGrpSpPr/>
          <p:nvPr userDrawn="1"/>
        </p:nvGrpSpPr>
        <p:grpSpPr>
          <a:xfrm rot="5400000">
            <a:off x="12227188" y="2604863"/>
            <a:ext cx="152400" cy="162820"/>
            <a:chOff x="7983415" y="6582508"/>
            <a:chExt cx="152400" cy="486507"/>
          </a:xfrm>
        </p:grpSpPr>
        <p:cxnSp>
          <p:nvCxnSpPr>
            <p:cNvPr id="225" name="Straight Connector 22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 userDrawn="1"/>
        </p:nvGrpSpPr>
        <p:grpSpPr>
          <a:xfrm rot="5400000">
            <a:off x="12227188" y="2131221"/>
            <a:ext cx="152400" cy="162820"/>
            <a:chOff x="7983415" y="6582508"/>
            <a:chExt cx="152400" cy="486507"/>
          </a:xfrm>
        </p:grpSpPr>
        <p:cxnSp>
          <p:nvCxnSpPr>
            <p:cNvPr id="223" name="Straight Connector 2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/>
          <p:cNvGrpSpPr/>
          <p:nvPr userDrawn="1"/>
        </p:nvGrpSpPr>
        <p:grpSpPr>
          <a:xfrm rot="5400000">
            <a:off x="12227188" y="1657579"/>
            <a:ext cx="152400" cy="162820"/>
            <a:chOff x="7983415" y="6582508"/>
            <a:chExt cx="152400" cy="486507"/>
          </a:xfrm>
        </p:grpSpPr>
        <p:cxnSp>
          <p:nvCxnSpPr>
            <p:cNvPr id="221" name="Straight Connector 22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7" name="Group 216"/>
          <p:cNvGrpSpPr/>
          <p:nvPr userDrawn="1"/>
        </p:nvGrpSpPr>
        <p:grpSpPr>
          <a:xfrm rot="5400000">
            <a:off x="12227188" y="976988"/>
            <a:ext cx="152400" cy="162820"/>
            <a:chOff x="7983415" y="6582508"/>
            <a:chExt cx="152400" cy="486507"/>
          </a:xfrm>
        </p:grpSpPr>
        <p:cxnSp>
          <p:nvCxnSpPr>
            <p:cNvPr id="219" name="Straight Connector 21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8" name="Straight Connector 217"/>
          <p:cNvCxnSpPr/>
          <p:nvPr userDrawn="1"/>
        </p:nvCxnSpPr>
        <p:spPr>
          <a:xfrm rot="5400000">
            <a:off x="12303388" y="6317802"/>
            <a:ext cx="0" cy="16282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 userDrawn="1"/>
        </p:nvCxnSpPr>
        <p:spPr>
          <a:xfrm>
            <a:off x="610308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 userDrawn="1"/>
        </p:nvCxnSpPr>
        <p:spPr>
          <a:xfrm>
            <a:off x="11579225" y="-141165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Group 172"/>
          <p:cNvGrpSpPr/>
          <p:nvPr userDrawn="1"/>
        </p:nvGrpSpPr>
        <p:grpSpPr>
          <a:xfrm>
            <a:off x="10648211" y="-141165"/>
            <a:ext cx="203200" cy="122115"/>
            <a:chOff x="7983415" y="6582508"/>
            <a:chExt cx="152400" cy="486507"/>
          </a:xfrm>
        </p:grpSpPr>
        <p:cxnSp>
          <p:nvCxnSpPr>
            <p:cNvPr id="204" name="Straight Connector 20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/>
          <p:cNvGrpSpPr/>
          <p:nvPr userDrawn="1"/>
        </p:nvGrpSpPr>
        <p:grpSpPr>
          <a:xfrm>
            <a:off x="9717201" y="-141165"/>
            <a:ext cx="203200" cy="122115"/>
            <a:chOff x="7983415" y="6582508"/>
            <a:chExt cx="152400" cy="486507"/>
          </a:xfrm>
        </p:grpSpPr>
        <p:cxnSp>
          <p:nvCxnSpPr>
            <p:cNvPr id="202" name="Straight Connector 20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/>
          <p:cNvGrpSpPr/>
          <p:nvPr userDrawn="1"/>
        </p:nvGrpSpPr>
        <p:grpSpPr>
          <a:xfrm>
            <a:off x="8786192" y="-141165"/>
            <a:ext cx="203200" cy="122115"/>
            <a:chOff x="7983415" y="6582508"/>
            <a:chExt cx="152400" cy="486507"/>
          </a:xfrm>
        </p:grpSpPr>
        <p:cxnSp>
          <p:nvCxnSpPr>
            <p:cNvPr id="200" name="Straight Connector 19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7855183" y="-141165"/>
            <a:ext cx="203200" cy="122115"/>
            <a:chOff x="7983415" y="6582508"/>
            <a:chExt cx="152400" cy="486507"/>
          </a:xfrm>
        </p:grpSpPr>
        <p:cxnSp>
          <p:nvCxnSpPr>
            <p:cNvPr id="198" name="Straight Connector 19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/>
          <p:cNvGrpSpPr/>
          <p:nvPr userDrawn="1"/>
        </p:nvGrpSpPr>
        <p:grpSpPr>
          <a:xfrm>
            <a:off x="6924173" y="-141165"/>
            <a:ext cx="203200" cy="122115"/>
            <a:chOff x="7983415" y="6582508"/>
            <a:chExt cx="152400" cy="486507"/>
          </a:xfrm>
        </p:grpSpPr>
        <p:cxnSp>
          <p:nvCxnSpPr>
            <p:cNvPr id="196" name="Straight Connector 19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 userDrawn="1"/>
        </p:nvGrpSpPr>
        <p:grpSpPr>
          <a:xfrm>
            <a:off x="5993164" y="-141165"/>
            <a:ext cx="203200" cy="122115"/>
            <a:chOff x="7983415" y="6582508"/>
            <a:chExt cx="152400" cy="486507"/>
          </a:xfrm>
        </p:grpSpPr>
        <p:cxnSp>
          <p:nvCxnSpPr>
            <p:cNvPr id="194" name="Straight Connector 19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 userDrawn="1"/>
        </p:nvGrpSpPr>
        <p:grpSpPr>
          <a:xfrm>
            <a:off x="5062155" y="-141165"/>
            <a:ext cx="203200" cy="122115"/>
            <a:chOff x="7983415" y="6582508"/>
            <a:chExt cx="152400" cy="486507"/>
          </a:xfrm>
        </p:grpSpPr>
        <p:cxnSp>
          <p:nvCxnSpPr>
            <p:cNvPr id="192" name="Straight Connector 19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 userDrawn="1"/>
        </p:nvGrpSpPr>
        <p:grpSpPr>
          <a:xfrm>
            <a:off x="4131145" y="-141165"/>
            <a:ext cx="203200" cy="122115"/>
            <a:chOff x="7983415" y="6582508"/>
            <a:chExt cx="152400" cy="486507"/>
          </a:xfrm>
        </p:grpSpPr>
        <p:cxnSp>
          <p:nvCxnSpPr>
            <p:cNvPr id="190" name="Straight Connector 18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/>
          <p:cNvGrpSpPr/>
          <p:nvPr userDrawn="1"/>
        </p:nvGrpSpPr>
        <p:grpSpPr>
          <a:xfrm>
            <a:off x="3200136" y="-141165"/>
            <a:ext cx="203200" cy="122115"/>
            <a:chOff x="7983415" y="6582508"/>
            <a:chExt cx="152400" cy="486507"/>
          </a:xfrm>
        </p:grpSpPr>
        <p:cxnSp>
          <p:nvCxnSpPr>
            <p:cNvPr id="188" name="Straight Connector 18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2" name="Group 181"/>
          <p:cNvGrpSpPr/>
          <p:nvPr userDrawn="1"/>
        </p:nvGrpSpPr>
        <p:grpSpPr>
          <a:xfrm>
            <a:off x="2269127" y="-141165"/>
            <a:ext cx="203200" cy="122115"/>
            <a:chOff x="7983415" y="6582508"/>
            <a:chExt cx="152400" cy="486507"/>
          </a:xfrm>
        </p:grpSpPr>
        <p:cxnSp>
          <p:nvCxnSpPr>
            <p:cNvPr id="186" name="Straight Connector 18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/>
          <p:cNvGrpSpPr/>
          <p:nvPr userDrawn="1"/>
        </p:nvGrpSpPr>
        <p:grpSpPr>
          <a:xfrm>
            <a:off x="1338117" y="-141165"/>
            <a:ext cx="203200" cy="122115"/>
            <a:chOff x="7983415" y="6582508"/>
            <a:chExt cx="152400" cy="486507"/>
          </a:xfrm>
        </p:grpSpPr>
        <p:cxnSp>
          <p:nvCxnSpPr>
            <p:cNvPr id="184" name="Straight Connector 18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Title 1"/>
          <p:cNvSpPr>
            <a:spLocks noGrp="1"/>
          </p:cNvSpPr>
          <p:nvPr>
            <p:ph type="title"/>
          </p:nvPr>
        </p:nvSpPr>
        <p:spPr>
          <a:xfrm>
            <a:off x="573618" y="457200"/>
            <a:ext cx="10972799" cy="54864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0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76072" y="1055688"/>
            <a:ext cx="10972800" cy="457200"/>
          </a:xfrm>
        </p:spPr>
        <p:txBody>
          <a:bodyPr anchor="b" anchorCtr="0"/>
          <a:lstStyle>
            <a:lvl1pPr marL="0" indent="0">
              <a:buNone/>
              <a:defRPr sz="2000" i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F87C93C-AC77-E289-525D-B1B485E32324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59EB6A-F8E9-9179-2A3A-38B7791A4C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" y="1828800"/>
            <a:ext cx="2589828" cy="426186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3381572" y="1828800"/>
            <a:ext cx="2589828" cy="426186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6187072" y="1828800"/>
            <a:ext cx="2589828" cy="426186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8992573" y="1828800"/>
            <a:ext cx="2589828" cy="426186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169" name="Group 168"/>
          <p:cNvGrpSpPr/>
          <p:nvPr userDrawn="1"/>
        </p:nvGrpSpPr>
        <p:grpSpPr>
          <a:xfrm>
            <a:off x="-201766" y="-141165"/>
            <a:ext cx="12586564" cy="7136527"/>
            <a:chOff x="-151325" y="-141165"/>
            <a:chExt cx="9439923" cy="7136527"/>
          </a:xfrm>
        </p:grpSpPr>
        <p:grpSp>
          <p:nvGrpSpPr>
            <p:cNvPr id="170" name="Group 16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4" name="Title 1"/>
          <p:cNvSpPr>
            <a:spLocks noGrp="1"/>
          </p:cNvSpPr>
          <p:nvPr>
            <p:ph type="title"/>
          </p:nvPr>
        </p:nvSpPr>
        <p:spPr>
          <a:xfrm>
            <a:off x="573618" y="457200"/>
            <a:ext cx="10972799" cy="54864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6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576072" y="1055688"/>
            <a:ext cx="10972800" cy="457200"/>
          </a:xfrm>
        </p:spPr>
        <p:txBody>
          <a:bodyPr anchor="b" anchorCtr="0"/>
          <a:lstStyle>
            <a:lvl1pPr marL="0" indent="0">
              <a:buNone/>
              <a:defRPr sz="200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2029734-7BB3-AEFC-D46D-A5807C5881A0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5327FB-E38A-40CE-8088-D53632585C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36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" y="1828800"/>
            <a:ext cx="2031223" cy="4261866"/>
          </a:xfrm>
        </p:spPr>
        <p:txBody>
          <a:bodyPr>
            <a:noAutofit/>
          </a:bodyPr>
          <a:lstStyle>
            <a:lvl1pPr marL="0" indent="0">
              <a:buFontTx/>
              <a:buNone/>
              <a:tabLst/>
              <a:defRPr sz="1400"/>
            </a:lvl1pPr>
            <a:lvl2pPr marL="225425" indent="0">
              <a:buFontTx/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Content Placeholder 2"/>
          <p:cNvSpPr>
            <a:spLocks noGrp="1"/>
          </p:cNvSpPr>
          <p:nvPr>
            <p:ph idx="11"/>
          </p:nvPr>
        </p:nvSpPr>
        <p:spPr>
          <a:xfrm>
            <a:off x="2819055" y="1828800"/>
            <a:ext cx="2031223" cy="426186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400"/>
            </a:lvl1pPr>
            <a:lvl2pPr marL="225425" indent="0">
              <a:buFontTx/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1" name="Content Placeholder 2"/>
          <p:cNvSpPr>
            <a:spLocks noGrp="1"/>
          </p:cNvSpPr>
          <p:nvPr>
            <p:ph idx="12"/>
          </p:nvPr>
        </p:nvSpPr>
        <p:spPr>
          <a:xfrm>
            <a:off x="5062038" y="1828800"/>
            <a:ext cx="2031223" cy="426186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400"/>
            </a:lvl1pPr>
            <a:lvl2pPr marL="225425" indent="0">
              <a:buFontTx/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Content Placeholder 2"/>
          <p:cNvSpPr>
            <a:spLocks noGrp="1"/>
          </p:cNvSpPr>
          <p:nvPr>
            <p:ph idx="13"/>
          </p:nvPr>
        </p:nvSpPr>
        <p:spPr>
          <a:xfrm>
            <a:off x="7305021" y="1828800"/>
            <a:ext cx="2031223" cy="426186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400"/>
            </a:lvl1pPr>
            <a:lvl2pPr marL="225425" indent="0">
              <a:buFontTx/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3" name="Content Placeholder 2"/>
          <p:cNvSpPr>
            <a:spLocks noGrp="1"/>
          </p:cNvSpPr>
          <p:nvPr>
            <p:ph idx="14"/>
          </p:nvPr>
        </p:nvSpPr>
        <p:spPr>
          <a:xfrm>
            <a:off x="9548003" y="1828800"/>
            <a:ext cx="2031223" cy="4261866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400"/>
            </a:lvl1pPr>
            <a:lvl2pPr marL="225425" indent="0">
              <a:buFontTx/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79" name="Group 178"/>
          <p:cNvGrpSpPr/>
          <p:nvPr userDrawn="1"/>
        </p:nvGrpSpPr>
        <p:grpSpPr>
          <a:xfrm>
            <a:off x="-201766" y="-141165"/>
            <a:ext cx="12586564" cy="7136527"/>
            <a:chOff x="-151325" y="-141165"/>
            <a:chExt cx="9439923" cy="7136527"/>
          </a:xfrm>
        </p:grpSpPr>
        <p:grpSp>
          <p:nvGrpSpPr>
            <p:cNvPr id="180" name="Group 17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89" name="Straight Connector 28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1" name="Group 29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2" name="Straight Connector 3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2" name="Group 29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0" name="Straight Connector 31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Straight Connector 32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3" name="Group 29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8" name="Straight Connector 31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Straight Connector 31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4" name="Group 29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6" name="Straight Connector 3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5" name="Group 29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4" name="Straight Connector 3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6" name="Group 29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7" name="Group 29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8" name="Group 29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9" name="Group 29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0" name="Group 29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1" name="Group 30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1" name="Group 18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54" name="Straight Connector 25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6" name="Group 25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7" name="Group 25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8" name="Group 25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9" name="Straight Connector 2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0" name="Group 25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1" name="Group 26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Group 26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3" name="Group 26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4" name="Group 26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5" name="Group 26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6" name="Straight Connector 26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Group 18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19" name="Straight Connector 21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1" name="Group 22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2" name="Group 22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3" name="Group 22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4" name="Group 22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4" name="Straight Connector 2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5" name="Group 22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6" name="Group 22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7" name="Group 22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8" name="Group 22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9" name="Group 22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0" name="Group 22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1" name="Straight Connector 23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3" name="Group 18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84" name="Straight Connector 18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6" name="Group 18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7" name="Group 18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8" name="Group 18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9" name="Group 18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9" name="Straight Connector 2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1" name="Group 19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" name="Group 19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3" name="Group 19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 19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5" name="Group 19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" name="Group 19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Title 1"/>
          <p:cNvSpPr>
            <a:spLocks noGrp="1"/>
          </p:cNvSpPr>
          <p:nvPr>
            <p:ph type="title"/>
          </p:nvPr>
        </p:nvSpPr>
        <p:spPr>
          <a:xfrm>
            <a:off x="573618" y="457200"/>
            <a:ext cx="10972799" cy="54864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7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576072" y="1055688"/>
            <a:ext cx="10972800" cy="457200"/>
          </a:xfrm>
        </p:spPr>
        <p:txBody>
          <a:bodyPr anchor="b" anchorCtr="0"/>
          <a:lstStyle>
            <a:lvl1pPr marL="0" indent="0">
              <a:buNone/>
              <a:defRPr sz="200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8D6A6D4-B8E6-99E9-60C4-034F831BCCB4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14060B-B855-99DD-2252-5C9F1EA1F2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11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pli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325" y="1828800"/>
            <a:ext cx="2589828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6" name="Content Placeholder 2"/>
          <p:cNvSpPr>
            <a:spLocks noGrp="1"/>
          </p:cNvSpPr>
          <p:nvPr>
            <p:ph idx="11"/>
          </p:nvPr>
        </p:nvSpPr>
        <p:spPr>
          <a:xfrm>
            <a:off x="3367354" y="1828800"/>
            <a:ext cx="2589828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7" name="Content Placeholder 2"/>
          <p:cNvSpPr>
            <a:spLocks noGrp="1"/>
          </p:cNvSpPr>
          <p:nvPr>
            <p:ph idx="12"/>
          </p:nvPr>
        </p:nvSpPr>
        <p:spPr>
          <a:xfrm>
            <a:off x="6160384" y="1828800"/>
            <a:ext cx="2589828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8" name="Content Placeholder 2"/>
          <p:cNvSpPr>
            <a:spLocks noGrp="1"/>
          </p:cNvSpPr>
          <p:nvPr>
            <p:ph idx="13"/>
          </p:nvPr>
        </p:nvSpPr>
        <p:spPr>
          <a:xfrm>
            <a:off x="8956588" y="1828800"/>
            <a:ext cx="2589828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69" name="Group 168"/>
          <p:cNvGrpSpPr/>
          <p:nvPr userDrawn="1"/>
        </p:nvGrpSpPr>
        <p:grpSpPr>
          <a:xfrm>
            <a:off x="-201766" y="-141165"/>
            <a:ext cx="12586564" cy="7136527"/>
            <a:chOff x="-151325" y="-141165"/>
            <a:chExt cx="9439923" cy="7136527"/>
          </a:xfrm>
        </p:grpSpPr>
        <p:grpSp>
          <p:nvGrpSpPr>
            <p:cNvPr id="170" name="Group 169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79" name="Straight Connector 278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1" name="Group 280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2" name="Straight Connector 3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2" name="Group 281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0" name="Straight Connector 3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Group 282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8" name="Straight Connector 3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4" name="Group 283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6" name="Straight Connector 3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5" name="Group 284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4" name="Straight Connector 3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6" name="Group 285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Group 286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8" name="Group 287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9" name="Group 288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0" name="Group 289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1" name="Group 290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1" name="Group 170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44" name="Straight Connector 243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5" name="Group 244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7" name="Straight Connector 2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5" name="Straight Connector 2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7" name="Group 246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3" name="Straight Connector 2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8" name="Group 247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71" name="Straight Connector 2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9" name="Straight Connector 2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5" name="Group 254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6" name="Straight Connector 255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" name="Group 171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09" name="Straight Connector 208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0" name="Group 209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2" name="Straight Connector 2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0" name="Straight Connector 2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8" name="Straight Connector 2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6" name="Straight Connector 2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4" name="Straight Connector 2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5" name="Group 214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9" name="Group 218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1" name="Straight Connector 220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74" name="Straight Connector 173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6" name="Group 175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7" name="Straight Connector 2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" name="Group 176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5" name="Straight Connector 2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3" name="Straight Connector 2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01" name="Straight Connector 2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9" name="Straight Connector 1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Group 183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Content Placeholder 2"/>
          <p:cNvSpPr>
            <a:spLocks noGrp="1"/>
          </p:cNvSpPr>
          <p:nvPr>
            <p:ph idx="14"/>
          </p:nvPr>
        </p:nvSpPr>
        <p:spPr>
          <a:xfrm>
            <a:off x="574326" y="4114800"/>
            <a:ext cx="2586650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6" name="Content Placeholder 2"/>
          <p:cNvSpPr>
            <a:spLocks noGrp="1"/>
          </p:cNvSpPr>
          <p:nvPr>
            <p:ph idx="15"/>
          </p:nvPr>
        </p:nvSpPr>
        <p:spPr>
          <a:xfrm>
            <a:off x="3367354" y="4114800"/>
            <a:ext cx="2586650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7" name="Content Placeholder 2"/>
          <p:cNvSpPr>
            <a:spLocks noGrp="1"/>
          </p:cNvSpPr>
          <p:nvPr>
            <p:ph idx="16"/>
          </p:nvPr>
        </p:nvSpPr>
        <p:spPr>
          <a:xfrm>
            <a:off x="6160384" y="4114800"/>
            <a:ext cx="2586651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8" name="Content Placeholder 2"/>
          <p:cNvSpPr>
            <a:spLocks noGrp="1"/>
          </p:cNvSpPr>
          <p:nvPr>
            <p:ph idx="17"/>
          </p:nvPr>
        </p:nvSpPr>
        <p:spPr>
          <a:xfrm>
            <a:off x="8953415" y="4114800"/>
            <a:ext cx="2593001" cy="18288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5425" indent="0">
              <a:buNone/>
              <a:defRPr sz="1400"/>
            </a:lvl2pPr>
            <a:lvl3pPr marL="460375" indent="0">
              <a:buNone/>
              <a:defRPr sz="1400"/>
            </a:lvl3pPr>
            <a:lvl4pPr marL="687388" indent="0">
              <a:buNone/>
              <a:defRPr sz="1400"/>
            </a:lvl4pPr>
            <a:lvl5pPr marL="912812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9" name="Title 1"/>
          <p:cNvSpPr>
            <a:spLocks noGrp="1"/>
          </p:cNvSpPr>
          <p:nvPr>
            <p:ph type="title"/>
          </p:nvPr>
        </p:nvSpPr>
        <p:spPr>
          <a:xfrm>
            <a:off x="573618" y="457200"/>
            <a:ext cx="10972799" cy="54864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73617" y="1055688"/>
            <a:ext cx="10972799" cy="457200"/>
          </a:xfrm>
        </p:spPr>
        <p:txBody>
          <a:bodyPr anchor="b" anchorCtr="0"/>
          <a:lstStyle>
            <a:lvl1pPr marL="0" indent="0">
              <a:buNone/>
              <a:defRPr sz="200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8D2D198-9C8A-316A-0981-9ED2B768DB1D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28AB33-45F8-56F7-98E6-8D6A9E7298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964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73618" y="457200"/>
            <a:ext cx="10972799" cy="548640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A6FE74E-4CE4-A93C-93FE-748EA0C0F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C6AEE8-B8ED-E1FC-6607-B9BA713709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27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FE95BC-FD4D-96FA-115D-FEEEB1316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FB0791-71D9-C3B9-2F4B-96DBDF7A2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770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ull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6999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" y="273050"/>
            <a:ext cx="4011084" cy="1162050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>
            <a:noAutofit/>
          </a:bodyPr>
          <a:lstStyle>
            <a:lvl1pPr>
              <a:buClr>
                <a:schemeClr val="accent2"/>
              </a:buClr>
              <a:defRPr sz="20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2000"/>
            </a:lvl3pPr>
            <a:lvl4pPr>
              <a:buClr>
                <a:schemeClr val="accent2"/>
              </a:buClr>
              <a:defRPr sz="2000"/>
            </a:lvl4pPr>
            <a:lvl5pPr>
              <a:buClr>
                <a:schemeClr val="accent2"/>
              </a:buCl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6072" y="1435101"/>
            <a:ext cx="4011084" cy="469106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31F62EA-903A-1930-86B2-27BB182FC70A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7922F4-DBEB-4888-6AD2-BEA60BB103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25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" y="273051"/>
            <a:ext cx="6815667" cy="5853113"/>
          </a:xfrm>
        </p:spPr>
        <p:txBody>
          <a:bodyPr>
            <a:noAutofit/>
          </a:bodyPr>
          <a:lstStyle>
            <a:lvl1pPr>
              <a:buClr>
                <a:schemeClr val="accent2"/>
              </a:buClr>
              <a:defRPr sz="20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2000"/>
            </a:lvl3pPr>
            <a:lvl4pPr>
              <a:buClr>
                <a:schemeClr val="accent2"/>
              </a:buClr>
              <a:defRPr sz="2000"/>
            </a:lvl4pPr>
            <a:lvl5pPr>
              <a:buClr>
                <a:schemeClr val="accent2"/>
              </a:buCl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3"/>
          </p:nvPr>
        </p:nvSpPr>
        <p:spPr>
          <a:xfrm>
            <a:off x="7574882" y="1435101"/>
            <a:ext cx="4011084" cy="469106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562613" y="273050"/>
            <a:ext cx="4011084" cy="1162050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80A585-F673-C29C-A653-3BC8658EC9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9883" y="6355714"/>
            <a:ext cx="609599" cy="365760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2BA2E4A-E3BB-9BBD-3382-E36D48194B32}"/>
              </a:ext>
            </a:extLst>
          </p:cNvPr>
          <p:cNvSpPr txBox="1">
            <a:spLocks/>
          </p:cNvSpPr>
          <p:nvPr userDrawn="1"/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70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72" y="454005"/>
            <a:ext cx="10972800" cy="114619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72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-201766" y="-141165"/>
            <a:ext cx="12586564" cy="7136527"/>
            <a:chOff x="-151325" y="-141165"/>
            <a:chExt cx="9439923" cy="7136527"/>
          </a:xfrm>
        </p:grpSpPr>
        <p:grpSp>
          <p:nvGrpSpPr>
            <p:cNvPr id="8" name="Group 7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117" name="Straight Connector 116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9" name="Group 118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50" name="Straight Connector 1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0" name="Group 119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8" name="Straight Connector 1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1" name="Group 120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6" name="Straight Connector 1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Group 121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4" name="Straight Connector 1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3" name="Group 122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2" name="Straight Connector 1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4" name="Group 123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0" name="Straight Connector 1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5" name="Group 124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8" name="Straight Connector 1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6" name="Group 125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6" name="Straight Connector 1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7" name="Group 126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4" name="Straight Connector 1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8" name="Group 127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2" name="Straight Connector 1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9" name="Group 128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0" name="Straight Connector 1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" name="Group 8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82" name="Straight Connector 81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3" name="Group 82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5" name="Straight Connector 1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" name="Group 83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3" name="Straight Connector 1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Group 84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1" name="Straight Connector 1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9" name="Straight Connector 10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7" name="Group 86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7" name="Straight Connector 10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" name="Group 87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5" name="Straight Connector 10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" name="Group 88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3" name="Straight Connector 10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" name="Group 89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1" name="Straight Connector 1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Group 90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99" name="Straight Connector 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" name="Group 91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97" name="Straight Connector 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3" name="Group 92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95" name="Straight Connector 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4" name="Straight Connector 93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47" name="Straight Connector 46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80" name="Straight Connector 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oup 48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8" name="Straight Connector 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Group 49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6" name="Straight Connector 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4" name="Straight Connector 7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" name="Group 51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2" name="Straight Connector 7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Group 52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0" name="Straight Connector 6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Group 53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8" name="Straight Connector 6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Group 54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6" name="Straight Connector 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Group 55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4" name="Straight Connector 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2" name="Straight Connector 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Group 57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0" name="Straight Connector 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9" name="Straight Connector 58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2" name="Straight Connector 11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5" name="Straight Connector 4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oup 14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3" name="Straight Connector 4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1" name="Straight Connector 4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oup 16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9" name="Straight Connector 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oup 17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7" name="Straight Connector 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5" name="Straight Connector 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3" name="Straight Connector 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oup 20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7" name="Straight Connector 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Group 23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5" name="Straight Connector 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62" name="Slide Number Placeholder 5">
            <a:extLst>
              <a:ext uri="{FF2B5EF4-FFF2-40B4-BE49-F238E27FC236}">
                <a16:creationId xmlns:a16="http://schemas.microsoft.com/office/drawing/2014/main" id="{514C8F09-8F55-DE11-C4E8-B7F3F111E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0EF2EA88-E9D4-0C4F-A5DF-5FE49FAF8E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153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8" r:id="rId3"/>
    <p:sldLayoutId id="2147483651" r:id="rId4"/>
    <p:sldLayoutId id="2147483664" r:id="rId5"/>
    <p:sldLayoutId id="2147483652" r:id="rId6"/>
    <p:sldLayoutId id="2147483653" r:id="rId7"/>
    <p:sldLayoutId id="2147483660" r:id="rId8"/>
    <p:sldLayoutId id="2147483661" r:id="rId9"/>
    <p:sldLayoutId id="2147483662" r:id="rId10"/>
    <p:sldLayoutId id="2147483663" r:id="rId11"/>
    <p:sldLayoutId id="2147483654" r:id="rId12"/>
    <p:sldLayoutId id="2147483655" r:id="rId13"/>
    <p:sldLayoutId id="2147483665" r:id="rId14"/>
    <p:sldLayoutId id="2147483656" r:id="rId15"/>
    <p:sldLayoutId id="2147483659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b="1" i="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800"/>
        </a:spcBef>
        <a:buClr>
          <a:schemeClr val="accent2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10000"/>
        </a:lnSpc>
        <a:spcBef>
          <a:spcPts val="400"/>
        </a:spcBef>
        <a:buClr>
          <a:schemeClr val="accent2"/>
        </a:buClr>
        <a:buFont typeface="Arial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7388" indent="-227013" algn="l" defTabSz="457200" rtl="0" eaLnBrk="1" latinLnBrk="0" hangingPunct="1">
        <a:spcBef>
          <a:spcPts val="400"/>
        </a:spcBef>
        <a:buClr>
          <a:schemeClr val="accent2"/>
        </a:buClr>
        <a:buSzPct val="85000"/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2813" indent="-225425" algn="l" defTabSz="457200" rtl="0" eaLnBrk="1" latinLnBrk="0" hangingPunct="1">
        <a:spcBef>
          <a:spcPts val="400"/>
        </a:spcBef>
        <a:buClr>
          <a:schemeClr val="accent2"/>
        </a:buClr>
        <a:buSzPct val="85000"/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227013" algn="l" defTabSz="457200" rtl="0" eaLnBrk="1" latinLnBrk="0" hangingPunct="1">
        <a:spcBef>
          <a:spcPct val="20000"/>
        </a:spcBef>
        <a:buClr>
          <a:schemeClr val="accent2"/>
        </a:buClr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55CD5A-6F3F-6A10-3A90-6DBD71662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059" y="3814873"/>
            <a:ext cx="10968916" cy="809919"/>
          </a:xfrm>
        </p:spPr>
        <p:txBody>
          <a:bodyPr/>
          <a:lstStyle/>
          <a:p>
            <a:r>
              <a:rPr lang="en-US" sz="4400" dirty="0">
                <a:ea typeface="+mj-lt"/>
                <a:cs typeface="+mj-lt"/>
              </a:rPr>
              <a:t>Compiling Resource-Efficient Programs with </a:t>
            </a:r>
            <a:r>
              <a:rPr lang="en-US" sz="4400" dirty="0" err="1">
                <a:ea typeface="+mj-lt"/>
                <a:cs typeface="+mj-lt"/>
              </a:rPr>
              <a:t>BQSKit</a:t>
            </a:r>
            <a:endParaRPr lang="en-US" sz="4400" b="0" dirty="0" err="1">
              <a:ea typeface="+mj-lt"/>
              <a:cs typeface="+mj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29E91FF-9B20-D47D-D725-BE200E5DB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059" y="4810729"/>
            <a:ext cx="10968916" cy="3573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Ed Younis, Justin </a:t>
            </a:r>
            <a:r>
              <a:rPr lang="en-US" dirty="0" err="1">
                <a:latin typeface="Arial"/>
                <a:cs typeface="Arial"/>
              </a:rPr>
              <a:t>Kalloor</a:t>
            </a:r>
            <a:r>
              <a:rPr lang="en-US" dirty="0">
                <a:latin typeface="Arial"/>
                <a:cs typeface="Arial"/>
              </a:rPr>
              <a:t>, Mathias Weiden, Siyuan Niu, Costin Iancu</a:t>
            </a:r>
            <a:endParaRPr lang="en-US" dirty="0">
              <a:cs typeface="Arial"/>
            </a:endParaRPr>
          </a:p>
        </p:txBody>
      </p:sp>
      <p:pic>
        <p:nvPicPr>
          <p:cNvPr id="18" name="Picture Placeholder 41" descr="A sunset in the background&#10;&#10;Description automatically generated">
            <a:extLst>
              <a:ext uri="{FF2B5EF4-FFF2-40B4-BE49-F238E27FC236}">
                <a16:creationId xmlns:a16="http://schemas.microsoft.com/office/drawing/2014/main" id="{AA50EE79-7428-B78E-32A7-D54EAE4B7CE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t="10935" b="10935"/>
          <a:stretch/>
        </p:blipFill>
        <p:spPr>
          <a:xfrm>
            <a:off x="0" y="0"/>
            <a:ext cx="12192000" cy="3148013"/>
          </a:xfrm>
          <a:prstGeom prst="rect">
            <a:avLst/>
          </a:prstGeom>
        </p:spPr>
      </p:pic>
      <p:pic>
        <p:nvPicPr>
          <p:cNvPr id="1026" name="Picture 2" descr="Photo of gloved handed holding a slim pen-sized flashlight over a quantum fridge.">
            <a:extLst>
              <a:ext uri="{FF2B5EF4-FFF2-40B4-BE49-F238E27FC236}">
                <a16:creationId xmlns:a16="http://schemas.microsoft.com/office/drawing/2014/main" id="{97DF2B99-9C37-7796-5D1A-69FD3AD12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83" y="0"/>
            <a:ext cx="12192000" cy="314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CED5187-9C7F-72B6-9488-A34931B4CBA0}"/>
              </a:ext>
            </a:extLst>
          </p:cNvPr>
          <p:cNvSpPr/>
          <p:nvPr/>
        </p:nvSpPr>
        <p:spPr>
          <a:xfrm>
            <a:off x="2590800" y="5411660"/>
            <a:ext cx="2308860" cy="1267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een text on a black background&#10;&#10;AI-generated content may be incorrect.">
            <a:extLst>
              <a:ext uri="{FF2B5EF4-FFF2-40B4-BE49-F238E27FC236}">
                <a16:creationId xmlns:a16="http://schemas.microsoft.com/office/drawing/2014/main" id="{762F3C0F-3E55-9952-1CD6-90B77D78A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4163" y="5502013"/>
            <a:ext cx="3180043" cy="88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418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BCB2-163B-BB0A-8421-F12B8D2E4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Quantum Hardware R&amp;D is Experiencing a Boon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AB5D-7589-9579-F9BF-ABB68F963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28" y="1787663"/>
            <a:ext cx="10972800" cy="328267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Arial"/>
              </a:rPr>
              <a:t>Extremely diverse hardware landscape</a:t>
            </a:r>
          </a:p>
          <a:p>
            <a:r>
              <a:rPr lang="en-US" dirty="0">
                <a:cs typeface="Arial"/>
              </a:rPr>
              <a:t>Steady stream of new gates, architectures, and </a:t>
            </a:r>
            <a:r>
              <a:rPr lang="en-US" dirty="0">
                <a:solidFill>
                  <a:schemeClr val="accent1"/>
                </a:solidFill>
                <a:cs typeface="Arial"/>
              </a:rPr>
              <a:t>constraints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cs typeface="Arial"/>
              </a:rPr>
              <a:t>Increases burden on the software stacks and compilers</a:t>
            </a:r>
          </a:p>
          <a:p>
            <a:r>
              <a:rPr lang="en-US" dirty="0">
                <a:cs typeface="Arial"/>
              </a:rPr>
              <a:t>Compilation has many different meanings</a:t>
            </a:r>
          </a:p>
          <a:p>
            <a:pPr lvl="1">
              <a:buFont typeface="Courier New"/>
              <a:buChar char="o"/>
            </a:pPr>
            <a:r>
              <a:rPr lang="en-US" dirty="0">
                <a:latin typeface="Arial" panose="020B0604020202020204"/>
                <a:cs typeface="Arial"/>
              </a:rPr>
              <a:t>High Level to Circuit Program Generators</a:t>
            </a:r>
          </a:p>
          <a:p>
            <a:pPr lvl="1">
              <a:buFont typeface="Courier New"/>
              <a:buChar char="o"/>
            </a:pPr>
            <a:r>
              <a:rPr lang="en-US" dirty="0">
                <a:latin typeface="Arial" panose="020B0604020202020204"/>
                <a:cs typeface="Arial"/>
              </a:rPr>
              <a:t>Circuit </a:t>
            </a:r>
            <a:r>
              <a:rPr lang="en-US" dirty="0" err="1">
                <a:latin typeface="Arial" panose="020B0604020202020204"/>
                <a:cs typeface="Arial"/>
              </a:rPr>
              <a:t>Transpilers</a:t>
            </a:r>
            <a:r>
              <a:rPr lang="en-US" dirty="0">
                <a:latin typeface="Arial" panose="020B0604020202020204"/>
                <a:cs typeface="Arial"/>
              </a:rPr>
              <a:t> (optimizers, constraint solving)</a:t>
            </a:r>
          </a:p>
          <a:p>
            <a:pPr lvl="1">
              <a:buFont typeface="Courier New"/>
              <a:buChar char="o"/>
            </a:pPr>
            <a:r>
              <a:rPr lang="en-US" dirty="0">
                <a:latin typeface="Arial" panose="020B0604020202020204"/>
                <a:cs typeface="Arial"/>
              </a:rPr>
              <a:t>Control level compilation (circuit to control signals, hardware specific languages, </a:t>
            </a:r>
            <a:r>
              <a:rPr lang="en-US" dirty="0" err="1">
                <a:latin typeface="Arial" panose="020B0604020202020204"/>
                <a:cs typeface="Arial"/>
              </a:rPr>
              <a:t>etc</a:t>
            </a:r>
            <a:r>
              <a:rPr lang="en-US" dirty="0">
                <a:latin typeface="Arial" panose="020B0604020202020204"/>
                <a:cs typeface="Arial"/>
              </a:rPr>
              <a:t>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B733C7E-CA6E-249F-9EBD-726082A24D5E}"/>
              </a:ext>
            </a:extLst>
          </p:cNvPr>
          <p:cNvGrpSpPr/>
          <p:nvPr/>
        </p:nvGrpSpPr>
        <p:grpSpPr>
          <a:xfrm>
            <a:off x="3300220" y="5070336"/>
            <a:ext cx="5524501" cy="1235043"/>
            <a:chOff x="977362" y="1460494"/>
            <a:chExt cx="5524501" cy="123504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9D7CC9E-A585-7863-7B82-405C42DD187B}"/>
                </a:ext>
              </a:extLst>
            </p:cNvPr>
            <p:cNvGrpSpPr/>
            <p:nvPr/>
          </p:nvGrpSpPr>
          <p:grpSpPr>
            <a:xfrm>
              <a:off x="977362" y="1460494"/>
              <a:ext cx="5524501" cy="820352"/>
              <a:chOff x="652684" y="1486998"/>
              <a:chExt cx="11657080" cy="1517992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A8A56FA2-610B-CF33-C261-93E38589D2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52684" y="1487687"/>
                <a:ext cx="2146852" cy="1517303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4160F333-1678-9B83-B29F-7CC4D65EE0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99536" y="1528712"/>
                <a:ext cx="1936750" cy="1472323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435E1F7-958C-C771-6EDB-67A08D0EF7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8937" y="1486998"/>
                <a:ext cx="2196353" cy="1514037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C6B76FAB-8D89-2BB9-D85F-C23A9A44DA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57941" y="1505016"/>
                <a:ext cx="2043317" cy="1477999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410D0CDE-E012-0ED3-216B-4D51FFD5B7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00657" y="1506876"/>
                <a:ext cx="2109107" cy="1494159"/>
              </a:xfrm>
              <a:prstGeom prst="rect">
                <a:avLst/>
              </a:prstGeom>
            </p:spPr>
          </p:pic>
        </p:grpSp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C2CE0046-47D0-9CFE-E008-386553343903}"/>
                </a:ext>
              </a:extLst>
            </p:cNvPr>
            <p:cNvSpPr txBox="1"/>
            <p:nvPr/>
          </p:nvSpPr>
          <p:spPr>
            <a:xfrm>
              <a:off x="1141165" y="2314664"/>
              <a:ext cx="5283639" cy="380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solidFill>
                    <a:srgbClr val="002060"/>
                  </a:solidFill>
                </a:rPr>
                <a:t>Google	    	     IBM                           Intel	                   </a:t>
              </a:r>
              <a:r>
                <a:rPr lang="en-US" sz="1000" dirty="0" err="1">
                  <a:solidFill>
                    <a:srgbClr val="002060"/>
                  </a:solidFill>
                </a:rPr>
                <a:t>IonQ</a:t>
              </a:r>
              <a:r>
                <a:rPr lang="en-US" sz="1000" dirty="0">
                  <a:solidFill>
                    <a:srgbClr val="002060"/>
                  </a:solidFill>
                </a:rPr>
                <a:t>    		 </a:t>
              </a:r>
              <a:r>
                <a:rPr lang="en-US" sz="1000" dirty="0" err="1">
                  <a:solidFill>
                    <a:srgbClr val="002060"/>
                  </a:solidFill>
                </a:rPr>
                <a:t>Rigetti</a:t>
              </a:r>
              <a:endParaRPr lang="en-US" sz="1000" dirty="0">
                <a:solidFill>
                  <a:srgbClr val="002060"/>
                </a:solidFill>
              </a:endParaRPr>
            </a:p>
            <a:p>
              <a:endParaRPr lang="en-US" sz="875" dirty="0"/>
            </a:p>
          </p:txBody>
        </p:sp>
      </p:grpSp>
      <p:pic>
        <p:nvPicPr>
          <p:cNvPr id="11" name="Picture 10" descr="A close-up of a computer chip&#10;&#10;Description automatically generated">
            <a:extLst>
              <a:ext uri="{FF2B5EF4-FFF2-40B4-BE49-F238E27FC236}">
                <a16:creationId xmlns:a16="http://schemas.microsoft.com/office/drawing/2014/main" id="{7BB7DFF9-0C98-05A4-DDB2-322B560975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7917" y="1967143"/>
            <a:ext cx="3660954" cy="207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62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6C3F0-B005-72C5-6EEC-B01889D0B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Berkeley Quantum Synthesis Toolkit (</a:t>
            </a:r>
            <a:r>
              <a:rPr lang="en-US" err="1">
                <a:cs typeface="Arial"/>
              </a:rPr>
              <a:t>BQSKit</a:t>
            </a:r>
            <a:r>
              <a:rPr lang="en-US">
                <a:cs typeface="Arial"/>
              </a:rPr>
              <a:t>) </a:t>
            </a:r>
            <a:r>
              <a:rPr lang="en-US">
                <a:ea typeface="+mj-lt"/>
                <a:cs typeface="+mj-lt"/>
              </a:rPr>
              <a:t>[bis • kit]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89349-D293-4D36-ECCE-67EFEF830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latin typeface="Arial"/>
                <a:cs typeface="Arial"/>
              </a:rPr>
              <a:t>Gracefully handles every gate set and architecture</a:t>
            </a:r>
            <a:endParaRPr lang="en-US" dirty="0"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latin typeface="Arial"/>
                <a:cs typeface="Arial"/>
              </a:rPr>
              <a:t>Specialized pipelines for widely-used chips</a:t>
            </a:r>
            <a:endParaRPr lang="en-US" dirty="0"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latin typeface="Arial"/>
                <a:cs typeface="Arial"/>
              </a:rPr>
              <a:t>Generates resource efficient circuits (width, depth, timing, </a:t>
            </a:r>
            <a:r>
              <a:rPr lang="en-US" dirty="0" err="1">
                <a:latin typeface="Arial"/>
                <a:cs typeface="Arial"/>
              </a:rPr>
              <a:t>etc</a:t>
            </a:r>
            <a:r>
              <a:rPr lang="en-US" dirty="0">
                <a:latin typeface="Arial"/>
                <a:cs typeface="Arial"/>
              </a:rPr>
              <a:t>)</a:t>
            </a:r>
            <a:endParaRPr lang="en-US" dirty="0"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latin typeface="Arial"/>
                <a:cs typeface="Arial"/>
              </a:rPr>
              <a:t>Error mitigation</a:t>
            </a:r>
            <a:endParaRPr lang="en-US" dirty="0"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latin typeface="Arial"/>
                <a:cs typeface="Arial"/>
              </a:rPr>
              <a:t>Enables effective algorithm and hardware design exploration</a:t>
            </a:r>
            <a:endParaRPr lang="en-US" dirty="0"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800"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cs typeface="Arial"/>
              </a:rPr>
              <a:t>20+ papers (3 IEEE QCE best papers: 2020, 2021, 2022)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dirty="0">
                <a:cs typeface="Arial"/>
              </a:rPr>
              <a:t>500K+ downloads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DAD277-9523-26E2-61BD-D7B8736AB10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6104" y="1029184"/>
            <a:ext cx="10936288" cy="4572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>
                <a:solidFill>
                  <a:srgbClr val="4198B5"/>
                </a:solidFill>
                <a:cs typeface="Arial"/>
              </a:rPr>
              <a:t>Powerful and Portable Quantum Compiler Framework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E8645C-BC8C-F751-07D6-CF499E5EC8D5}"/>
              </a:ext>
            </a:extLst>
          </p:cNvPr>
          <p:cNvSpPr txBox="1"/>
          <p:nvPr/>
        </p:nvSpPr>
        <p:spPr>
          <a:xfrm>
            <a:off x="2047461" y="4757530"/>
            <a:ext cx="140473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dirty="0">
                <a:cs typeface="Arial" panose="020B0604020202020204"/>
              </a:rPr>
              <a:t>LANL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 panose="020B0604020202020204"/>
              </a:rPr>
              <a:t>Sandia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 panose="020B0604020202020204"/>
              </a:rPr>
              <a:t>ANL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 panose="020B0604020202020204"/>
              </a:rPr>
              <a:t>ORNL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 panose="020B0604020202020204"/>
              </a:rPr>
              <a:t>LLNL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 panose="020B0604020202020204"/>
              </a:rPr>
              <a:t>U Penn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 panose="020B0604020202020204"/>
              </a:rPr>
              <a:t>U 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E3B2B-4E4F-FA88-E9B9-45B83DD22FA2}"/>
              </a:ext>
            </a:extLst>
          </p:cNvPr>
          <p:cNvSpPr txBox="1"/>
          <p:nvPr/>
        </p:nvSpPr>
        <p:spPr>
          <a:xfrm>
            <a:off x="3737112" y="4757529"/>
            <a:ext cx="190168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U Chicago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U Kansas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U Tokyo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NCSU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Duke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CUNY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U </a:t>
            </a:r>
            <a:r>
              <a:rPr lang="en-US" err="1">
                <a:cs typeface="Arial" panose="020B0604020202020204"/>
              </a:rPr>
              <a:t>Wisc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A27D5F-1C20-DC8C-97D3-CEBD33AF58D6}"/>
              </a:ext>
            </a:extLst>
          </p:cNvPr>
          <p:cNvSpPr txBox="1"/>
          <p:nvPr/>
        </p:nvSpPr>
        <p:spPr>
          <a:xfrm>
            <a:off x="5923720" y="4757529"/>
            <a:ext cx="190168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err="1">
                <a:cs typeface="Arial" panose="020B0604020202020204"/>
              </a:rPr>
              <a:t>Quantinuum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cs typeface="Arial" panose="020B0604020202020204"/>
              </a:rPr>
              <a:t>Infleqtion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AWS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Microsoft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NVIDIA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cs typeface="Arial" panose="020B0604020202020204"/>
              </a:rPr>
              <a:t>UnitaryFund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 panose="020B0604020202020204"/>
              </a:rPr>
              <a:t>HSBC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54E3C35-183B-1237-AD9E-39AC68431989}"/>
              </a:ext>
            </a:extLst>
          </p:cNvPr>
          <p:cNvGrpSpPr/>
          <p:nvPr/>
        </p:nvGrpSpPr>
        <p:grpSpPr>
          <a:xfrm>
            <a:off x="8604591" y="1712149"/>
            <a:ext cx="2664882" cy="3820873"/>
            <a:chOff x="9055165" y="1838045"/>
            <a:chExt cx="2664882" cy="3820873"/>
          </a:xfrm>
        </p:grpSpPr>
        <p:pic>
          <p:nvPicPr>
            <p:cNvPr id="9" name="Google Shape;647;p53" descr="A qr code on a white background&#10;&#10;Description automatically generated">
              <a:extLst>
                <a:ext uri="{FF2B5EF4-FFF2-40B4-BE49-F238E27FC236}">
                  <a16:creationId xmlns:a16="http://schemas.microsoft.com/office/drawing/2014/main" id="{801232F1-3EAA-0320-5776-34703D70A21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8678" t="10134" r="10513" b="8132"/>
            <a:stretch/>
          </p:blipFill>
          <p:spPr>
            <a:xfrm>
              <a:off x="9174923" y="2624521"/>
              <a:ext cx="2425367" cy="24532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648;p53">
              <a:extLst>
                <a:ext uri="{FF2B5EF4-FFF2-40B4-BE49-F238E27FC236}">
                  <a16:creationId xmlns:a16="http://schemas.microsoft.com/office/drawing/2014/main" id="{4AAF2A3C-49FA-0076-B9E6-28F1DCFD5993}"/>
                </a:ext>
              </a:extLst>
            </p:cNvPr>
            <p:cNvSpPr txBox="1"/>
            <p:nvPr/>
          </p:nvSpPr>
          <p:spPr>
            <a:xfrm>
              <a:off x="9055165" y="4830526"/>
              <a:ext cx="2664882" cy="828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67310" algn="ctr">
                <a:spcBef>
                  <a:spcPts val="747"/>
                </a:spcBef>
                <a:buClr>
                  <a:schemeClr val="dk1"/>
                </a:buClr>
                <a:buSzPts val="2800"/>
              </a:pPr>
              <a:r>
                <a:rPr lang="en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bqskit.lbl.gov</a:t>
              </a:r>
              <a:endParaRPr lang="en-US" sz="2400" err="1"/>
            </a:p>
          </p:txBody>
        </p:sp>
        <p:pic>
          <p:nvPicPr>
            <p:cNvPr id="13" name="Picture 12" descr="A logo for a company&#10;&#10;Description automatically generated">
              <a:extLst>
                <a:ext uri="{FF2B5EF4-FFF2-40B4-BE49-F238E27FC236}">
                  <a16:creationId xmlns:a16="http://schemas.microsoft.com/office/drawing/2014/main" id="{6289DB6C-D144-7234-008D-630A61CBA1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3636" b="25909"/>
            <a:stretch/>
          </p:blipFill>
          <p:spPr>
            <a:xfrm>
              <a:off x="9174923" y="1838045"/>
              <a:ext cx="2425367" cy="734228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00A3671-40C8-E14F-E0C6-2204ED7F4C94}"/>
              </a:ext>
            </a:extLst>
          </p:cNvPr>
          <p:cNvSpPr txBox="1"/>
          <p:nvPr/>
        </p:nvSpPr>
        <p:spPr>
          <a:xfrm>
            <a:off x="781877" y="4757529"/>
            <a:ext cx="98066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cs typeface="Arial" panose="020B0604020202020204"/>
              </a:rPr>
              <a:t>Users: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18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13344-B682-3915-12CE-EDB2C389E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57200"/>
            <a:ext cx="10972799" cy="704973"/>
          </a:xfrm>
        </p:spPr>
        <p:txBody>
          <a:bodyPr/>
          <a:lstStyle/>
          <a:p>
            <a:r>
              <a:rPr lang="en-US"/>
              <a:t>Turn-key Functionality that Works Everywhere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AB6D12-C1BB-45F8-8B4D-4695E6AFE0FC}"/>
              </a:ext>
            </a:extLst>
          </p:cNvPr>
          <p:cNvGrpSpPr/>
          <p:nvPr/>
        </p:nvGrpSpPr>
        <p:grpSpPr>
          <a:xfrm>
            <a:off x="3013585" y="1510408"/>
            <a:ext cx="6164827" cy="1752705"/>
            <a:chOff x="1754629" y="1430895"/>
            <a:chExt cx="6164827" cy="1752705"/>
          </a:xfrm>
        </p:grpSpPr>
        <p:pic>
          <p:nvPicPr>
            <p:cNvPr id="7" name="Picture 6" descr="Text&#10;&#10;Description automatically generated">
              <a:extLst>
                <a:ext uri="{FF2B5EF4-FFF2-40B4-BE49-F238E27FC236}">
                  <a16:creationId xmlns:a16="http://schemas.microsoft.com/office/drawing/2014/main" id="{CF73E88B-D039-0F67-3998-A31E12FB33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001" t="41120" r="4603" b="14554"/>
            <a:stretch/>
          </p:blipFill>
          <p:spPr>
            <a:xfrm>
              <a:off x="1754629" y="1430895"/>
              <a:ext cx="6164827" cy="86130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E39D20-A68B-917C-CBBA-84F7A0CBCCF5}"/>
                </a:ext>
              </a:extLst>
            </p:cNvPr>
            <p:cNvSpPr txBox="1"/>
            <p:nvPr/>
          </p:nvSpPr>
          <p:spPr>
            <a:xfrm>
              <a:off x="2077932" y="2414159"/>
              <a:ext cx="5524844" cy="76944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 dirty="0"/>
                <a:t>Python 3.9+ on Windows, Mac, Linux</a:t>
              </a:r>
            </a:p>
            <a:p>
              <a:pPr algn="ctr"/>
              <a:r>
                <a:rPr lang="en-US" sz="2000" dirty="0">
                  <a:solidFill>
                    <a:schemeClr val="accent2"/>
                  </a:solidFill>
                  <a:cs typeface="Arial"/>
                </a:rPr>
                <a:t>(from laptop to supercomputer)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E7C8A2-103B-9AFA-4BB2-920BCA891FD8}"/>
              </a:ext>
            </a:extLst>
          </p:cNvPr>
          <p:cNvGrpSpPr/>
          <p:nvPr/>
        </p:nvGrpSpPr>
        <p:grpSpPr>
          <a:xfrm>
            <a:off x="1057949" y="3560999"/>
            <a:ext cx="10076098" cy="2651857"/>
            <a:chOff x="-399790" y="3620634"/>
            <a:chExt cx="10076098" cy="2651857"/>
          </a:xfrm>
        </p:grpSpPr>
        <p:pic>
          <p:nvPicPr>
            <p:cNvPr id="13" name="Picture 12" descr="Text&#10;&#10;Description automatically generated">
              <a:extLst>
                <a:ext uri="{FF2B5EF4-FFF2-40B4-BE49-F238E27FC236}">
                  <a16:creationId xmlns:a16="http://schemas.microsoft.com/office/drawing/2014/main" id="{175FE34A-F282-CA8B-379E-C72FD70F77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436" t="20410" r="13920" b="35553"/>
            <a:stretch/>
          </p:blipFill>
          <p:spPr>
            <a:xfrm>
              <a:off x="-399790" y="3620634"/>
              <a:ext cx="10076098" cy="139814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65833F-0116-2CA3-22E2-754B97741462}"/>
                </a:ext>
              </a:extLst>
            </p:cNvPr>
            <p:cNvSpPr txBox="1"/>
            <p:nvPr/>
          </p:nvSpPr>
          <p:spPr>
            <a:xfrm>
              <a:off x="818579" y="5133718"/>
              <a:ext cx="7645192" cy="113877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/>
                <a:t>Any gate set or architecture in or out</a:t>
              </a:r>
            </a:p>
            <a:p>
              <a:pPr algn="ctr"/>
              <a:r>
                <a:rPr lang="en-US" sz="2400"/>
                <a:t>qubits, </a:t>
              </a:r>
              <a:r>
                <a:rPr lang="en-US" sz="2400" err="1"/>
                <a:t>qudits</a:t>
              </a:r>
              <a:r>
                <a:rPr lang="en-US" sz="2400"/>
                <a:t>, states, many-states, </a:t>
              </a:r>
              <a:r>
                <a:rPr lang="en-US" sz="2400" err="1"/>
                <a:t>unitaries</a:t>
              </a:r>
              <a:r>
                <a:rPr lang="en-US" sz="2400"/>
                <a:t>, and more</a:t>
              </a:r>
              <a:endParaRPr lang="en-US" sz="2400">
                <a:cs typeface="Arial"/>
              </a:endParaRPr>
            </a:p>
            <a:p>
              <a:pPr algn="ctr"/>
              <a:r>
                <a:rPr lang="en-US" sz="2000">
                  <a:solidFill>
                    <a:schemeClr val="accent2"/>
                  </a:solidFill>
                  <a:cs typeface="Arial"/>
                </a:rPr>
                <a:t>(from experiment to real hardware)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523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C3C69-B297-8691-C7D5-74A401470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618" y="457200"/>
            <a:ext cx="11185756" cy="548640"/>
          </a:xfrm>
        </p:spPr>
        <p:txBody>
          <a:bodyPr/>
          <a:lstStyle/>
          <a:p>
            <a:r>
              <a:rPr lang="en-US"/>
              <a:t>Parameterized Circuit Instantiation: A Powerful Primitive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D11830-584D-AC72-8143-A34BB6CCD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0BAD42-E540-77DD-D989-9D9599F4DB21}"/>
              </a:ext>
            </a:extLst>
          </p:cNvPr>
          <p:cNvSpPr txBox="1"/>
          <p:nvPr/>
        </p:nvSpPr>
        <p:spPr>
          <a:xfrm>
            <a:off x="2648710" y="4469662"/>
            <a:ext cx="6894576" cy="1634490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F109E9-BAA9-D1DE-D751-1B2BDB462E20}"/>
              </a:ext>
            </a:extLst>
          </p:cNvPr>
          <p:cNvSpPr txBox="1"/>
          <p:nvPr/>
        </p:nvSpPr>
        <p:spPr>
          <a:xfrm>
            <a:off x="3463138" y="3869415"/>
            <a:ext cx="5265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Parameterized Circuit Instantiation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563213-300F-CE35-7897-F5367507E7D9}"/>
              </a:ext>
            </a:extLst>
          </p:cNvPr>
          <p:cNvGrpSpPr/>
          <p:nvPr/>
        </p:nvGrpSpPr>
        <p:grpSpPr>
          <a:xfrm>
            <a:off x="2715766" y="4617210"/>
            <a:ext cx="6976872" cy="1416744"/>
            <a:chOff x="502920" y="3371701"/>
            <a:chExt cx="6976872" cy="141674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26308DE-6C48-7B0B-128B-5183F96CBE71}"/>
                </a:ext>
              </a:extLst>
            </p:cNvPr>
            <p:cNvSpPr txBox="1"/>
            <p:nvPr/>
          </p:nvSpPr>
          <p:spPr>
            <a:xfrm>
              <a:off x="502920" y="3371701"/>
              <a:ext cx="697687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/>
                <a:t>Given a parameterized quantum circuit                          and a target unitary                 , solve for</a:t>
              </a:r>
            </a:p>
          </p:txBody>
        </p:sp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A8026388-4299-E0C5-D82A-737CEDFE38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9417" y="3429000"/>
              <a:ext cx="1643992" cy="2828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9330BF9F-F2F4-C88C-7E56-2304DD49EF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296" y="3780709"/>
              <a:ext cx="1104136" cy="253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08B0DC1-338F-3D45-C9BB-3017658396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6628" y="4262653"/>
              <a:ext cx="2610445" cy="525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63B424-42E3-C92D-C6B5-6104F989BA30}"/>
              </a:ext>
            </a:extLst>
          </p:cNvPr>
          <p:cNvGrpSpPr/>
          <p:nvPr/>
        </p:nvGrpSpPr>
        <p:grpSpPr>
          <a:xfrm>
            <a:off x="795528" y="1556592"/>
            <a:ext cx="10597776" cy="1723528"/>
            <a:chOff x="795528" y="1492584"/>
            <a:chExt cx="10597776" cy="172352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397AA0B-00C7-4EDB-5AE6-568A2B065F38}"/>
                </a:ext>
              </a:extLst>
            </p:cNvPr>
            <p:cNvSpPr/>
            <p:nvPr/>
          </p:nvSpPr>
          <p:spPr>
            <a:xfrm>
              <a:off x="795528" y="1981142"/>
              <a:ext cx="3931920" cy="12349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F14EE02-5267-5AB2-3D5C-277C2EF3EEA0}"/>
                </a:ext>
              </a:extLst>
            </p:cNvPr>
            <p:cNvSpPr txBox="1"/>
            <p:nvPr/>
          </p:nvSpPr>
          <p:spPr>
            <a:xfrm>
              <a:off x="1077787" y="1492584"/>
              <a:ext cx="34805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/>
                <a:t>Parameterized Circuit </a:t>
              </a:r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E181C3C7-20A8-4839-A8CB-8D5F0ADBDA00}"/>
                </a:ext>
              </a:extLst>
            </p:cNvPr>
            <p:cNvSpPr/>
            <p:nvPr/>
          </p:nvSpPr>
          <p:spPr>
            <a:xfrm>
              <a:off x="5126015" y="2272670"/>
              <a:ext cx="1865376" cy="651908"/>
            </a:xfrm>
            <a:prstGeom prst="rightArrow">
              <a:avLst>
                <a:gd name="adj1" fmla="val 46157"/>
                <a:gd name="adj2" fmla="val 99958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721E66B-51BC-9CBD-ED6A-A15C0D7F0B90}"/>
                </a:ext>
              </a:extLst>
            </p:cNvPr>
            <p:cNvSpPr/>
            <p:nvPr/>
          </p:nvSpPr>
          <p:spPr>
            <a:xfrm>
              <a:off x="7389959" y="1981140"/>
              <a:ext cx="4003345" cy="123497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46C456D-B8C7-6AEE-BE46-C4BC8CA39EB9}"/>
                </a:ext>
              </a:extLst>
            </p:cNvPr>
            <p:cNvSpPr txBox="1"/>
            <p:nvPr/>
          </p:nvSpPr>
          <p:spPr>
            <a:xfrm>
              <a:off x="7904268" y="1492584"/>
              <a:ext cx="32735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/>
                <a:t>Instantiated Circuit 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F5F1B6F-E014-E807-035E-316BFB5F3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8724" y="2164559"/>
              <a:ext cx="3745525" cy="841241"/>
            </a:xfrm>
            <a:prstGeom prst="rect">
              <a:avLst/>
            </a:prstGeom>
          </p:spPr>
        </p:pic>
        <p:pic>
          <p:nvPicPr>
            <p:cNvPr id="22" name="Picture 21" descr="A close-up of a number&#10;&#10;Description automatically generated">
              <a:extLst>
                <a:ext uri="{FF2B5EF4-FFF2-40B4-BE49-F238E27FC236}">
                  <a16:creationId xmlns:a16="http://schemas.microsoft.com/office/drawing/2014/main" id="{712DD6EC-74EA-19AA-0700-EE0E417B3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62810" y="2178572"/>
              <a:ext cx="3740467" cy="8401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5359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CDD5C-CE1A-C430-0B41-8A946D1C3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618" y="457200"/>
            <a:ext cx="11131825" cy="548640"/>
          </a:xfrm>
        </p:spPr>
        <p:txBody>
          <a:bodyPr/>
          <a:lstStyle/>
          <a:p>
            <a:r>
              <a:rPr lang="en-US">
                <a:cs typeface="Arial"/>
              </a:rPr>
              <a:t>Instantiation Enables Function and Structure Separation</a:t>
            </a:r>
            <a:endParaRPr lang="en-US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EAE723-725B-00A2-19BC-0CEF1A80D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28E41F9-457D-B1D7-ECB7-33F667D39744}"/>
              </a:ext>
            </a:extLst>
          </p:cNvPr>
          <p:cNvGrpSpPr/>
          <p:nvPr/>
        </p:nvGrpSpPr>
        <p:grpSpPr>
          <a:xfrm>
            <a:off x="4248978" y="3523422"/>
            <a:ext cx="3193773" cy="834887"/>
            <a:chOff x="4494143" y="3430657"/>
            <a:chExt cx="3193773" cy="834887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8A6DE18C-D359-D985-B18D-8328D27F4E9F}"/>
                </a:ext>
              </a:extLst>
            </p:cNvPr>
            <p:cNvSpPr/>
            <p:nvPr/>
          </p:nvSpPr>
          <p:spPr>
            <a:xfrm>
              <a:off x="4494143" y="3430657"/>
              <a:ext cx="3193773" cy="834887"/>
            </a:xfrm>
            <a:prstGeom prst="roundRect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E4AC34-CE0B-6C92-DA5B-F6D7F4904EE1}"/>
                </a:ext>
              </a:extLst>
            </p:cNvPr>
            <p:cNvSpPr txBox="1"/>
            <p:nvPr/>
          </p:nvSpPr>
          <p:spPr>
            <a:xfrm>
              <a:off x="4595233" y="3533508"/>
              <a:ext cx="299467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>
                  <a:cs typeface="Arial"/>
                </a:rPr>
                <a:t>Can isolate and vary circuit function and structure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B69062E-AD05-85C6-9713-5728470FBA94}"/>
              </a:ext>
            </a:extLst>
          </p:cNvPr>
          <p:cNvGrpSpPr/>
          <p:nvPr/>
        </p:nvGrpSpPr>
        <p:grpSpPr>
          <a:xfrm>
            <a:off x="4096795" y="1159027"/>
            <a:ext cx="4003345" cy="1723527"/>
            <a:chOff x="5740064" y="4379305"/>
            <a:chExt cx="4003345" cy="172352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E559008-0E29-EDED-DD4B-98C6733888A7}"/>
                </a:ext>
              </a:extLst>
            </p:cNvPr>
            <p:cNvSpPr/>
            <p:nvPr/>
          </p:nvSpPr>
          <p:spPr>
            <a:xfrm>
              <a:off x="5740064" y="4867861"/>
              <a:ext cx="4003345" cy="123497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1A39AB2-FA2F-917E-75BC-3B40BF538ABD}"/>
                </a:ext>
              </a:extLst>
            </p:cNvPr>
            <p:cNvSpPr txBox="1"/>
            <p:nvPr/>
          </p:nvSpPr>
          <p:spPr>
            <a:xfrm>
              <a:off x="6254373" y="4379305"/>
              <a:ext cx="3273562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b="1"/>
                <a:t>Instantiated Circuit </a:t>
              </a:r>
            </a:p>
          </p:txBody>
        </p:sp>
        <p:pic>
          <p:nvPicPr>
            <p:cNvPr id="16" name="Picture 15" descr="A close-up of a number&#10;&#10;Description automatically generated">
              <a:extLst>
                <a:ext uri="{FF2B5EF4-FFF2-40B4-BE49-F238E27FC236}">
                  <a16:creationId xmlns:a16="http://schemas.microsoft.com/office/drawing/2014/main" id="{EBCC7154-A509-BDF2-B979-6B205FB63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12915" y="5065293"/>
              <a:ext cx="3740467" cy="840104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E3A3D9-BCC4-EFBC-10D8-A8882C002E73}"/>
              </a:ext>
            </a:extLst>
          </p:cNvPr>
          <p:cNvGrpSpPr/>
          <p:nvPr/>
        </p:nvGrpSpPr>
        <p:grpSpPr>
          <a:xfrm>
            <a:off x="4136550" y="4816625"/>
            <a:ext cx="4003345" cy="1723527"/>
            <a:chOff x="5740064" y="4379305"/>
            <a:chExt cx="4003345" cy="1723527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74D1653-B848-5467-04C9-BE0F09ED39EC}"/>
                </a:ext>
              </a:extLst>
            </p:cNvPr>
            <p:cNvSpPr/>
            <p:nvPr/>
          </p:nvSpPr>
          <p:spPr>
            <a:xfrm>
              <a:off x="5740064" y="4867861"/>
              <a:ext cx="4003345" cy="1234971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0A4A8A7-010A-0C3E-23F4-F3719AE8FAD0}"/>
                </a:ext>
              </a:extLst>
            </p:cNvPr>
            <p:cNvSpPr txBox="1"/>
            <p:nvPr/>
          </p:nvSpPr>
          <p:spPr>
            <a:xfrm>
              <a:off x="6254373" y="4379305"/>
              <a:ext cx="3273562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b="1"/>
                <a:t>Instantiated Circuit </a:t>
              </a:r>
            </a:p>
          </p:txBody>
        </p:sp>
        <p:pic>
          <p:nvPicPr>
            <p:cNvPr id="22" name="Picture 21" descr="A close-up of a number&#10;&#10;Description automatically generated">
              <a:extLst>
                <a:ext uri="{FF2B5EF4-FFF2-40B4-BE49-F238E27FC236}">
                  <a16:creationId xmlns:a16="http://schemas.microsoft.com/office/drawing/2014/main" id="{EEDC0AAD-1205-12A8-471E-D14C44F90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12915" y="5065293"/>
              <a:ext cx="3740467" cy="840104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3DFD61F-CFD5-243A-1676-4B084B15747D}"/>
              </a:ext>
            </a:extLst>
          </p:cNvPr>
          <p:cNvGrpSpPr/>
          <p:nvPr/>
        </p:nvGrpSpPr>
        <p:grpSpPr>
          <a:xfrm>
            <a:off x="7991459" y="2822175"/>
            <a:ext cx="3931920" cy="2237456"/>
            <a:chOff x="7779424" y="2689653"/>
            <a:chExt cx="3931920" cy="223745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C854EA0-A700-3159-3729-5ED5EB86685E}"/>
                </a:ext>
              </a:extLst>
            </p:cNvPr>
            <p:cNvGrpSpPr/>
            <p:nvPr/>
          </p:nvGrpSpPr>
          <p:grpSpPr>
            <a:xfrm>
              <a:off x="7779424" y="2689653"/>
              <a:ext cx="3931920" cy="1723528"/>
              <a:chOff x="-854367" y="4379305"/>
              <a:chExt cx="3931920" cy="1723528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74E36CA3-48D9-5076-1E1A-586E8E180A9E}"/>
                  </a:ext>
                </a:extLst>
              </p:cNvPr>
              <p:cNvSpPr/>
              <p:nvPr/>
            </p:nvSpPr>
            <p:spPr>
              <a:xfrm>
                <a:off x="-854367" y="4867863"/>
                <a:ext cx="3931920" cy="1234970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7FCB01-BD9D-69DA-4103-4A93F3DF8F8F}"/>
                  </a:ext>
                </a:extLst>
              </p:cNvPr>
              <p:cNvSpPr txBox="1"/>
              <p:nvPr/>
            </p:nvSpPr>
            <p:spPr>
              <a:xfrm>
                <a:off x="-572108" y="4379305"/>
                <a:ext cx="34805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/>
                  <a:t>Parameterized Circuit </a:t>
                </a: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DDEEDD7F-A2C7-B086-69EA-ED90FB3F22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61171" y="5051280"/>
                <a:ext cx="3745525" cy="841241"/>
              </a:xfrm>
              <a:prstGeom prst="rect">
                <a:avLst/>
              </a:prstGeom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7699EB5-8C34-234E-0EF8-2DBD2293AD70}"/>
                </a:ext>
              </a:extLst>
            </p:cNvPr>
            <p:cNvSpPr txBox="1"/>
            <p:nvPr/>
          </p:nvSpPr>
          <p:spPr>
            <a:xfrm>
              <a:off x="8989335" y="4465444"/>
              <a:ext cx="158544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 b="1">
                  <a:solidFill>
                    <a:schemeClr val="accent3"/>
                  </a:solidFill>
                </a:rPr>
                <a:t>Structure</a:t>
              </a:r>
              <a:endParaRPr lang="en-US" sz="2400" b="1">
                <a:solidFill>
                  <a:schemeClr val="accent3"/>
                </a:solidFill>
                <a:cs typeface="Arial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28C4BC7-52EF-3F1F-0FE7-3856840284C2}"/>
              </a:ext>
            </a:extLst>
          </p:cNvPr>
          <p:cNvGrpSpPr/>
          <p:nvPr/>
        </p:nvGrpSpPr>
        <p:grpSpPr>
          <a:xfrm>
            <a:off x="719980" y="2881809"/>
            <a:ext cx="2605865" cy="2595264"/>
            <a:chOff x="441684" y="2159566"/>
            <a:chExt cx="2605865" cy="2595264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D944F95-1B72-762F-E52C-A5221279D5CB}"/>
                </a:ext>
              </a:extLst>
            </p:cNvPr>
            <p:cNvGrpSpPr/>
            <p:nvPr/>
          </p:nvGrpSpPr>
          <p:grpSpPr>
            <a:xfrm>
              <a:off x="889768" y="2996945"/>
              <a:ext cx="1704093" cy="1237330"/>
              <a:chOff x="1287334" y="3354754"/>
              <a:chExt cx="1704093" cy="1237330"/>
            </a:xfrm>
          </p:grpSpPr>
          <p:pic>
            <p:nvPicPr>
              <p:cNvPr id="29" name="Picture 28" descr="A black text with letters and symbols&#10;&#10;Description automatically generated">
                <a:extLst>
                  <a:ext uri="{FF2B5EF4-FFF2-40B4-BE49-F238E27FC236}">
                    <a16:creationId xmlns:a16="http://schemas.microsoft.com/office/drawing/2014/main" id="{94FA30B4-C87D-CF10-901F-B6844EA67A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7321"/>
              <a:stretch/>
            </p:blipFill>
            <p:spPr>
              <a:xfrm>
                <a:off x="1335202" y="3354754"/>
                <a:ext cx="1621815" cy="1230251"/>
              </a:xfrm>
              <a:prstGeom prst="rect">
                <a:avLst/>
              </a:prstGeom>
            </p:spPr>
          </p:pic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BB2C7C5B-FFBA-11FE-E4C5-8876C47EDEE1}"/>
                  </a:ext>
                </a:extLst>
              </p:cNvPr>
              <p:cNvSpPr/>
              <p:nvPr/>
            </p:nvSpPr>
            <p:spPr>
              <a:xfrm>
                <a:off x="1287334" y="3357113"/>
                <a:ext cx="1704093" cy="1234971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6AEF702-FE6B-1F35-BB09-8CB66A808EC8}"/>
                </a:ext>
              </a:extLst>
            </p:cNvPr>
            <p:cNvSpPr txBox="1"/>
            <p:nvPr/>
          </p:nvSpPr>
          <p:spPr>
            <a:xfrm>
              <a:off x="441684" y="2159566"/>
              <a:ext cx="2605865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 b="1"/>
                <a:t>Mathematical Representations</a:t>
              </a:r>
              <a:endParaRPr lang="en-US" sz="2400" b="1">
                <a:cs typeface="Aria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CD58B81-0BE4-448E-4D8F-5C958008EB22}"/>
                </a:ext>
              </a:extLst>
            </p:cNvPr>
            <p:cNvSpPr txBox="1"/>
            <p:nvPr/>
          </p:nvSpPr>
          <p:spPr>
            <a:xfrm>
              <a:off x="951891" y="4293165"/>
              <a:ext cx="1585449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 b="1">
                  <a:solidFill>
                    <a:schemeClr val="accent3"/>
                  </a:solidFill>
                </a:rPr>
                <a:t>Function</a:t>
              </a:r>
              <a:endParaRPr lang="en-US">
                <a:solidFill>
                  <a:schemeClr val="accent3"/>
                </a:solidFill>
                <a:cs typeface="Arial" panose="020B0604020202020204"/>
              </a:endParaRPr>
            </a:p>
          </p:txBody>
        </p:sp>
      </p:grpSp>
      <p:sp>
        <p:nvSpPr>
          <p:cNvPr id="39" name="Arrow: Bent 38">
            <a:extLst>
              <a:ext uri="{FF2B5EF4-FFF2-40B4-BE49-F238E27FC236}">
                <a16:creationId xmlns:a16="http://schemas.microsoft.com/office/drawing/2014/main" id="{7EA5C54B-5E16-22FD-B64A-C1F3FA60D4C3}"/>
              </a:ext>
            </a:extLst>
          </p:cNvPr>
          <p:cNvSpPr/>
          <p:nvPr/>
        </p:nvSpPr>
        <p:spPr>
          <a:xfrm rot="-5400000" flipH="1">
            <a:off x="2569033" y="1405227"/>
            <a:ext cx="575278" cy="2087879"/>
          </a:xfrm>
          <a:prstGeom prst="bent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Arrow: Bent 39">
            <a:extLst>
              <a:ext uri="{FF2B5EF4-FFF2-40B4-BE49-F238E27FC236}">
                <a16:creationId xmlns:a16="http://schemas.microsoft.com/office/drawing/2014/main" id="{7EB8B0D6-9E02-77E2-4F0B-AF18AAD9BCA5}"/>
              </a:ext>
            </a:extLst>
          </p:cNvPr>
          <p:cNvSpPr/>
          <p:nvPr/>
        </p:nvSpPr>
        <p:spPr>
          <a:xfrm rot="5400000">
            <a:off x="8863815" y="1590756"/>
            <a:ext cx="588530" cy="1716819"/>
          </a:xfrm>
          <a:prstGeom prst="bent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Arrow: Bent 40">
            <a:extLst>
              <a:ext uri="{FF2B5EF4-FFF2-40B4-BE49-F238E27FC236}">
                <a16:creationId xmlns:a16="http://schemas.microsoft.com/office/drawing/2014/main" id="{BBFCBDC5-AF3D-09D0-D505-EEF96AF04901}"/>
              </a:ext>
            </a:extLst>
          </p:cNvPr>
          <p:cNvSpPr/>
          <p:nvPr/>
        </p:nvSpPr>
        <p:spPr>
          <a:xfrm rot="10800000" flipH="1">
            <a:off x="1909738" y="5476955"/>
            <a:ext cx="1893869" cy="537376"/>
          </a:xfrm>
          <a:prstGeom prst="bent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Arrow: Bent 42">
            <a:extLst>
              <a:ext uri="{FF2B5EF4-FFF2-40B4-BE49-F238E27FC236}">
                <a16:creationId xmlns:a16="http://schemas.microsoft.com/office/drawing/2014/main" id="{B87C95F2-4441-8B34-32C4-2186316F28E7}"/>
              </a:ext>
            </a:extLst>
          </p:cNvPr>
          <p:cNvSpPr/>
          <p:nvPr/>
        </p:nvSpPr>
        <p:spPr>
          <a:xfrm rot="10800000">
            <a:off x="8337041" y="5205286"/>
            <a:ext cx="1960129" cy="809045"/>
          </a:xfrm>
          <a:prstGeom prst="bent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339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581E-2B72-EFBA-FD49-0915402C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Instantiation is the Core of Bottom-Up Synthesis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A7A2-20F6-85B7-7655-5A9C2F3E7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939" name="Picture 938" descr="Diagram&#10;&#10;Description automatically generated">
            <a:extLst>
              <a:ext uri="{FF2B5EF4-FFF2-40B4-BE49-F238E27FC236}">
                <a16:creationId xmlns:a16="http://schemas.microsoft.com/office/drawing/2014/main" id="{83E9554F-183F-0ECA-1637-CC40341628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199"/>
          <a:stretch/>
        </p:blipFill>
        <p:spPr>
          <a:xfrm>
            <a:off x="760580" y="1240915"/>
            <a:ext cx="4298891" cy="4053461"/>
          </a:xfrm>
          <a:prstGeom prst="rect">
            <a:avLst/>
          </a:prstGeom>
        </p:spPr>
      </p:pic>
      <p:sp>
        <p:nvSpPr>
          <p:cNvPr id="941" name="TextBox 940">
            <a:extLst>
              <a:ext uri="{FF2B5EF4-FFF2-40B4-BE49-F238E27FC236}">
                <a16:creationId xmlns:a16="http://schemas.microsoft.com/office/drawing/2014/main" id="{180C7405-C439-CB1A-AEF2-FF3429FC7395}"/>
              </a:ext>
            </a:extLst>
          </p:cNvPr>
          <p:cNvSpPr txBox="1"/>
          <p:nvPr/>
        </p:nvSpPr>
        <p:spPr>
          <a:xfrm>
            <a:off x="363730" y="5293192"/>
            <a:ext cx="52888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The standard bottom-up loop is to create an initial circuit template guess then continue to instantiate and extend it until a solution is found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BF3186-4969-FA91-1BC0-E677769C5B13}"/>
              </a:ext>
            </a:extLst>
          </p:cNvPr>
          <p:cNvGrpSpPr/>
          <p:nvPr/>
        </p:nvGrpSpPr>
        <p:grpSpPr>
          <a:xfrm>
            <a:off x="6745704" y="1077486"/>
            <a:ext cx="4029035" cy="5137055"/>
            <a:chOff x="7224181" y="1077486"/>
            <a:chExt cx="4029035" cy="51370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C794E5-947C-467A-F033-0312684012D9}"/>
                </a:ext>
              </a:extLst>
            </p:cNvPr>
            <p:cNvGrpSpPr/>
            <p:nvPr/>
          </p:nvGrpSpPr>
          <p:grpSpPr>
            <a:xfrm>
              <a:off x="7245096" y="4164316"/>
              <a:ext cx="4008120" cy="2050225"/>
              <a:chOff x="12700041" y="1755956"/>
              <a:chExt cx="4008120" cy="2050225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C85E8F8-CAE2-9022-A419-429F8DBDC121}"/>
                  </a:ext>
                </a:extLst>
              </p:cNvPr>
              <p:cNvSpPr/>
              <p:nvPr/>
            </p:nvSpPr>
            <p:spPr>
              <a:xfrm>
                <a:off x="12700041" y="2088801"/>
                <a:ext cx="4008120" cy="1717380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8" name="Google Shape;181;p34" descr="image6.png">
                <a:extLst>
                  <a:ext uri="{FF2B5EF4-FFF2-40B4-BE49-F238E27FC236}">
                    <a16:creationId xmlns:a16="http://schemas.microsoft.com/office/drawing/2014/main" id="{05188D83-8D72-C128-2EC0-D8C3383A0675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2898349" y="2348294"/>
                <a:ext cx="3535303" cy="12731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A1BE28-76C1-36AF-F661-188B8C4D382E}"/>
                  </a:ext>
                </a:extLst>
              </p:cNvPr>
              <p:cNvSpPr txBox="1"/>
              <p:nvPr/>
            </p:nvSpPr>
            <p:spPr>
              <a:xfrm>
                <a:off x="12872812" y="1755956"/>
                <a:ext cx="11490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/>
                  <a:t>Circuit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4F52065-A525-1DB8-217F-0C25325779AA}"/>
                </a:ext>
              </a:extLst>
            </p:cNvPr>
            <p:cNvGrpSpPr/>
            <p:nvPr/>
          </p:nvGrpSpPr>
          <p:grpSpPr>
            <a:xfrm>
              <a:off x="7224181" y="1077486"/>
              <a:ext cx="3931920" cy="3574114"/>
              <a:chOff x="6191967" y="1873946"/>
              <a:chExt cx="3931920" cy="357411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C29D3C-F205-A455-A095-C641EF51FFA5}"/>
                  </a:ext>
                </a:extLst>
              </p:cNvPr>
              <p:cNvSpPr txBox="1"/>
              <p:nvPr/>
            </p:nvSpPr>
            <p:spPr>
              <a:xfrm>
                <a:off x="6458352" y="1873946"/>
                <a:ext cx="12344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/>
                  <a:t>Unitary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4F01349-BA52-AE18-ED98-83920A1316C4}"/>
                  </a:ext>
                </a:extLst>
              </p:cNvPr>
              <p:cNvGrpSpPr/>
              <p:nvPr/>
            </p:nvGrpSpPr>
            <p:grpSpPr>
              <a:xfrm>
                <a:off x="6191967" y="2087330"/>
                <a:ext cx="3931920" cy="3360730"/>
                <a:chOff x="6191967" y="2087330"/>
                <a:chExt cx="3931920" cy="3360730"/>
              </a:xfrm>
            </p:grpSpPr>
            <p:grpSp>
              <p:nvGrpSpPr>
                <p:cNvPr id="12" name="Google Shape;182;p34">
                  <a:extLst>
                    <a:ext uri="{FF2B5EF4-FFF2-40B4-BE49-F238E27FC236}">
                      <a16:creationId xmlns:a16="http://schemas.microsoft.com/office/drawing/2014/main" id="{FE59CA40-F0C2-297C-932F-6D63526F01D8}"/>
                    </a:ext>
                  </a:extLst>
                </p:cNvPr>
                <p:cNvGrpSpPr/>
                <p:nvPr/>
              </p:nvGrpSpPr>
              <p:grpSpPr>
                <a:xfrm>
                  <a:off x="6255058" y="2087330"/>
                  <a:ext cx="3708736" cy="3360730"/>
                  <a:chOff x="15319" y="187299"/>
                  <a:chExt cx="4450483" cy="4032877"/>
                </a:xfrm>
              </p:grpSpPr>
              <p:cxnSp>
                <p:nvCxnSpPr>
                  <p:cNvPr id="14" name="Google Shape;183;p34">
                    <a:extLst>
                      <a:ext uri="{FF2B5EF4-FFF2-40B4-BE49-F238E27FC236}">
                        <a16:creationId xmlns:a16="http://schemas.microsoft.com/office/drawing/2014/main" id="{F1A4A588-1979-6F79-309E-59C80B100E19}"/>
                      </a:ext>
                    </a:extLst>
                  </p:cNvPr>
                  <p:cNvCxnSpPr/>
                  <p:nvPr/>
                </p:nvCxnSpPr>
                <p:spPr>
                  <a:xfrm>
                    <a:off x="2298762" y="187299"/>
                    <a:ext cx="1269900" cy="1269900"/>
                  </a:xfrm>
                  <a:prstGeom prst="straightConnector1">
                    <a:avLst/>
                  </a:prstGeom>
                  <a:noFill/>
                  <a:ln>
                    <a:noFill/>
                  </a:ln>
                </p:spPr>
              </p:cxnSp>
              <p:pic>
                <p:nvPicPr>
                  <p:cNvPr id="15" name="Google Shape;184;p34" descr="qft3.png">
                    <a:extLst>
                      <a:ext uri="{FF2B5EF4-FFF2-40B4-BE49-F238E27FC236}">
                        <a16:creationId xmlns:a16="http://schemas.microsoft.com/office/drawing/2014/main" id="{D9339A06-BD0D-8FB7-E927-DDB0B14534B7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l="6108" r="45793"/>
                  <a:stretch/>
                </p:blipFill>
                <p:spPr>
                  <a:xfrm>
                    <a:off x="15319" y="623554"/>
                    <a:ext cx="4269529" cy="22218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cxnSp>
                <p:nvCxnSpPr>
                  <p:cNvPr id="16" name="Google Shape;185;p34">
                    <a:extLst>
                      <a:ext uri="{FF2B5EF4-FFF2-40B4-BE49-F238E27FC236}">
                        <a16:creationId xmlns:a16="http://schemas.microsoft.com/office/drawing/2014/main" id="{59C9C892-810D-A12A-334B-2534291D9075}"/>
                      </a:ext>
                    </a:extLst>
                  </p:cNvPr>
                  <p:cNvCxnSpPr/>
                  <p:nvPr/>
                </p:nvCxnSpPr>
                <p:spPr>
                  <a:xfrm>
                    <a:off x="3195902" y="2950276"/>
                    <a:ext cx="1269900" cy="1269900"/>
                  </a:xfrm>
                  <a:prstGeom prst="straightConnector1">
                    <a:avLst/>
                  </a:prstGeom>
                  <a:noFill/>
                  <a:ln>
                    <a:noFill/>
                  </a:ln>
                </p:spPr>
              </p:cxnSp>
            </p:grpSp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B5C87F8A-8C6C-3727-4213-6F66DEB076CE}"/>
                    </a:ext>
                  </a:extLst>
                </p:cNvPr>
                <p:cNvSpPr/>
                <p:nvPr/>
              </p:nvSpPr>
              <p:spPr>
                <a:xfrm>
                  <a:off x="6191967" y="2237510"/>
                  <a:ext cx="3931920" cy="2278287"/>
                </a:xfrm>
                <a:prstGeom prst="roundRect">
                  <a:avLst/>
                </a:prstGeom>
                <a:noFill/>
                <a:ln w="28575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31D1022A-16FF-A2F2-FCB7-E53ECEF68567}"/>
                </a:ext>
              </a:extLst>
            </p:cNvPr>
            <p:cNvSpPr/>
            <p:nvPr/>
          </p:nvSpPr>
          <p:spPr>
            <a:xfrm rot="5400000">
              <a:off x="8893501" y="3910923"/>
              <a:ext cx="593280" cy="393400"/>
            </a:xfrm>
            <a:prstGeom prst="rightArrow">
              <a:avLst>
                <a:gd name="adj1" fmla="val 40657"/>
                <a:gd name="adj2" fmla="val 91707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12">
            <a:extLst>
              <a:ext uri="{FF2B5EF4-FFF2-40B4-BE49-F238E27FC236}">
                <a16:creationId xmlns:a16="http://schemas.microsoft.com/office/drawing/2014/main" id="{40D48455-7C91-F33E-0B5B-675342A9B671}"/>
              </a:ext>
            </a:extLst>
          </p:cNvPr>
          <p:cNvSpPr txBox="1"/>
          <p:nvPr/>
        </p:nvSpPr>
        <p:spPr>
          <a:xfrm>
            <a:off x="2937" y="6459098"/>
            <a:ext cx="7109140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Arial"/>
              </a:rPr>
              <a:t>E. Younis et al., “</a:t>
            </a:r>
            <a:r>
              <a:rPr lang="en-US" sz="1000" err="1">
                <a:ea typeface="+mn-lt"/>
                <a:cs typeface="+mn-lt"/>
              </a:rPr>
              <a:t>QFast</a:t>
            </a:r>
            <a:r>
              <a:rPr lang="en-US" sz="1000">
                <a:ea typeface="+mn-lt"/>
                <a:cs typeface="+mn-lt"/>
              </a:rPr>
              <a:t>: Conflating Search and Numerical Optimization for Scalable Quantum Circuit Synthesis</a:t>
            </a:r>
            <a:r>
              <a:rPr lang="en-US" sz="1000">
                <a:cs typeface="Arial"/>
              </a:rPr>
              <a:t>.” 2021 </a:t>
            </a:r>
            <a:r>
              <a:rPr lang="en-US" sz="1000" i="1">
                <a:cs typeface="Arial"/>
              </a:rPr>
              <a:t>IEEE International Conference on Quantum Computing and Engineering (QCE)</a:t>
            </a:r>
            <a:r>
              <a:rPr lang="en-US" sz="1000">
                <a:cs typeface="Arial"/>
              </a:rPr>
              <a:t>. IEEE, 2021. (Best Paper Award)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388683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581E-2B72-EFBA-FD49-0915402C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Instantiation-Based Circuit Transformation Flow</a:t>
            </a:r>
            <a:endParaRPr lang="en-US" b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A7A2-20F6-85B7-7655-5A9C2F3E7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939" name="Picture 938" descr="Diagram&#10;&#10;Description automatically generated">
            <a:extLst>
              <a:ext uri="{FF2B5EF4-FFF2-40B4-BE49-F238E27FC236}">
                <a16:creationId xmlns:a16="http://schemas.microsoft.com/office/drawing/2014/main" id="{83E9554F-183F-0ECA-1637-CC40341628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199"/>
          <a:stretch/>
        </p:blipFill>
        <p:spPr>
          <a:xfrm>
            <a:off x="760580" y="1240915"/>
            <a:ext cx="4298891" cy="4053461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AF71895-D1EE-E013-348C-A9FC1515E6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827" r="-26"/>
          <a:stretch/>
        </p:blipFill>
        <p:spPr>
          <a:xfrm>
            <a:off x="6733885" y="1234289"/>
            <a:ext cx="4694389" cy="40534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226344-B816-C3E4-B31C-1F022F91CDEC}"/>
              </a:ext>
            </a:extLst>
          </p:cNvPr>
          <p:cNvSpPr txBox="1"/>
          <p:nvPr/>
        </p:nvSpPr>
        <p:spPr>
          <a:xfrm>
            <a:off x="667099" y="5386619"/>
            <a:ext cx="108578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We have found Instantiation can also be used to transform or optimize a quantum circuit. Instead of extending a circuit template like in bottom-up synthesis, we reduce or transform a circuit template and continue until it is no longer successful or necessary.</a:t>
            </a: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DC640F33-3823-0DAF-2EB5-FCBFE562C9F8}"/>
              </a:ext>
            </a:extLst>
          </p:cNvPr>
          <p:cNvSpPr txBox="1"/>
          <p:nvPr/>
        </p:nvSpPr>
        <p:spPr>
          <a:xfrm>
            <a:off x="2937" y="6459098"/>
            <a:ext cx="6135106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Arial"/>
              </a:rPr>
              <a:t>E. Younis et al., “Quantum Circuit Optimization and </a:t>
            </a:r>
            <a:r>
              <a:rPr lang="en-US" sz="1000" err="1">
                <a:cs typeface="Arial"/>
              </a:rPr>
              <a:t>Transpilation</a:t>
            </a:r>
            <a:r>
              <a:rPr lang="en-US" sz="1000">
                <a:cs typeface="Arial"/>
              </a:rPr>
              <a:t> via Parameterized Circuit Instantiation.” </a:t>
            </a:r>
            <a:r>
              <a:rPr lang="en-US" sz="1000" i="1">
                <a:cs typeface="Arial"/>
              </a:rPr>
              <a:t>2022 IEEE International Conference on Quantum Computing and Engineering (QCE).</a:t>
            </a:r>
            <a:r>
              <a:rPr lang="en-US" sz="1000">
                <a:cs typeface="Arial"/>
              </a:rPr>
              <a:t> IEEE, 2022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884751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F752-54B6-DBB2-5DAE-72B044954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Gate Deletion is Straight Forward with Instantiation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BB4073-70FF-42B9-FFDB-5ED598436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id="{31A0105A-ADD7-98FE-7BBA-C783EF49F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25" y="1244219"/>
            <a:ext cx="7649817" cy="52486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B93B78-A971-0DC9-4042-DD14AC1B913A}"/>
              </a:ext>
            </a:extLst>
          </p:cNvPr>
          <p:cNvSpPr txBox="1"/>
          <p:nvPr/>
        </p:nvSpPr>
        <p:spPr>
          <a:xfrm>
            <a:off x="8311896" y="1528317"/>
            <a:ext cx="325526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Suboptimal circuits can have gates removed and others </a:t>
            </a:r>
            <a:r>
              <a:rPr lang="en-US" sz="2000" err="1"/>
              <a:t>reinstantiated</a:t>
            </a:r>
            <a:r>
              <a:rPr lang="en-US" sz="2000"/>
              <a:t> to accommodate the loss</a:t>
            </a:r>
          </a:p>
          <a:p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Gate deletion + Candidate selection = Optimization algorithm</a:t>
            </a:r>
          </a:p>
          <a:p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Extremely portable and flexible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Very effective due to global 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3408448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C5A45-0F91-BF08-CE7C-425749708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6345" y="1256036"/>
            <a:ext cx="6124098" cy="22538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 err="1"/>
              <a:t>QSweep</a:t>
            </a:r>
            <a:r>
              <a:rPr lang="en-US" dirty="0"/>
              <a:t> – 1 </a:t>
            </a:r>
            <a:r>
              <a:rPr lang="en-US" dirty="0" err="1"/>
              <a:t>qudit</a:t>
            </a:r>
            <a:r>
              <a:rPr lang="en-US" dirty="0"/>
              <a:t>, pulse-optimal</a:t>
            </a:r>
            <a:endParaRPr lang="en-US" dirty="0">
              <a:cs typeface="Arial"/>
            </a:endParaRPr>
          </a:p>
          <a:p>
            <a:r>
              <a:rPr lang="en-US" dirty="0" err="1"/>
              <a:t>QSearch</a:t>
            </a:r>
            <a:r>
              <a:rPr lang="en-US" dirty="0"/>
              <a:t> – 2-4 </a:t>
            </a:r>
            <a:r>
              <a:rPr lang="en-US" dirty="0" err="1"/>
              <a:t>qudits</a:t>
            </a:r>
            <a:r>
              <a:rPr lang="en-US" dirty="0"/>
              <a:t>, optimal</a:t>
            </a:r>
            <a:endParaRPr lang="en-US" dirty="0" err="1">
              <a:cs typeface="Arial"/>
            </a:endParaRPr>
          </a:p>
          <a:p>
            <a:r>
              <a:rPr lang="en-US" dirty="0">
                <a:cs typeface="Arial"/>
              </a:rPr>
              <a:t>ACDC – Dynamic Circuits</a:t>
            </a:r>
            <a:endParaRPr lang="en-US" dirty="0"/>
          </a:p>
          <a:p>
            <a:r>
              <a:rPr lang="en-US" dirty="0"/>
              <a:t>PAS – 3-4 </a:t>
            </a:r>
            <a:r>
              <a:rPr lang="en-US" dirty="0" err="1"/>
              <a:t>qudits</a:t>
            </a:r>
            <a:r>
              <a:rPr lang="en-US" dirty="0"/>
              <a:t>, better-than-optimal + post-processing</a:t>
            </a:r>
            <a:endParaRPr lang="en-US" dirty="0">
              <a:cs typeface="Arial"/>
            </a:endParaRPr>
          </a:p>
          <a:p>
            <a:r>
              <a:rPr lang="en-US" dirty="0"/>
              <a:t>LEAP – 4-6 </a:t>
            </a:r>
            <a:r>
              <a:rPr lang="en-US" dirty="0" err="1"/>
              <a:t>qudits</a:t>
            </a:r>
            <a:endParaRPr lang="en-US" dirty="0" err="1">
              <a:cs typeface="Arial"/>
            </a:endParaRPr>
          </a:p>
          <a:p>
            <a:r>
              <a:rPr lang="en-US" dirty="0"/>
              <a:t>QFAST – 5-8 </a:t>
            </a:r>
            <a:r>
              <a:rPr lang="en-US" dirty="0" err="1"/>
              <a:t>qudits</a:t>
            </a:r>
            <a:endParaRPr lang="en-US" dirty="0" err="1">
              <a:cs typeface="Arial"/>
            </a:endParaRPr>
          </a:p>
          <a:p>
            <a:r>
              <a:rPr lang="en-US" dirty="0" err="1"/>
              <a:t>QPredict</a:t>
            </a:r>
            <a:r>
              <a:rPr lang="en-US" dirty="0"/>
              <a:t> – 6-12 </a:t>
            </a:r>
            <a:r>
              <a:rPr lang="en-US" dirty="0" err="1"/>
              <a:t>qudits</a:t>
            </a:r>
            <a:endParaRPr lang="en-US" dirty="0" err="1">
              <a:cs typeface="Arial" panose="020B0604020202020204"/>
            </a:endParaRPr>
          </a:p>
          <a:p>
            <a:endParaRPr lang="en-US">
              <a:cs typeface="Arial" panose="020B0604020202020204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71FC2A-1AF5-1973-C519-1848CB7A1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0257" y="2463776"/>
            <a:ext cx="3241368" cy="140847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dirty="0"/>
              <a:t>Retargeting</a:t>
            </a:r>
          </a:p>
          <a:p>
            <a:pPr algn="ctr"/>
            <a:r>
              <a:rPr lang="en-US" dirty="0"/>
              <a:t>Gate Deletion</a:t>
            </a:r>
            <a:endParaRPr lang="en-US" dirty="0">
              <a:cs typeface="Arial"/>
            </a:endParaRPr>
          </a:p>
          <a:p>
            <a:pPr algn="ctr"/>
            <a:r>
              <a:rPr lang="en-US" dirty="0"/>
              <a:t>Template Substitution</a:t>
            </a:r>
            <a:endParaRPr lang="en-US" dirty="0">
              <a:cs typeface="Arial"/>
            </a:endParaRPr>
          </a:p>
          <a:p>
            <a:pPr algn="ctr"/>
            <a:r>
              <a:rPr lang="en-US" dirty="0">
                <a:cs typeface="Arial"/>
              </a:rPr>
              <a:t>Circuit Resizing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8D0235-1935-B3D5-DBE9-460C9D00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Instantiation-Based Algorithms in </a:t>
            </a:r>
            <a:r>
              <a:rPr lang="en-US" err="1"/>
              <a:t>BQSKit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5DF3B2-53D5-2D47-9EF0-B828801C0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C3C6235-6529-E727-844C-29326A8D2707}"/>
              </a:ext>
            </a:extLst>
          </p:cNvPr>
          <p:cNvSpPr txBox="1">
            <a:spLocks/>
          </p:cNvSpPr>
          <p:nvPr/>
        </p:nvSpPr>
        <p:spPr>
          <a:xfrm>
            <a:off x="1679115" y="4384779"/>
            <a:ext cx="1624388" cy="62481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None/>
              <a:defRPr sz="2000" i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Circuit Synthesis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BFDCB66B-E332-712A-6CB8-927DA28DED40}"/>
              </a:ext>
            </a:extLst>
          </p:cNvPr>
          <p:cNvSpPr/>
          <p:nvPr/>
        </p:nvSpPr>
        <p:spPr>
          <a:xfrm>
            <a:off x="4406546" y="4303635"/>
            <a:ext cx="2872937" cy="1937622"/>
          </a:xfrm>
          <a:prstGeom prst="triangle">
            <a:avLst/>
          </a:prstGeom>
          <a:solidFill>
            <a:srgbClr val="63666A"/>
          </a:solidFill>
          <a:ln>
            <a:solidFill>
              <a:srgbClr val="63666A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Instantiation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1AFF3D-D4C0-5EE5-F381-EF81B9A74D2B}"/>
              </a:ext>
            </a:extLst>
          </p:cNvPr>
          <p:cNvSpPr/>
          <p:nvPr/>
        </p:nvSpPr>
        <p:spPr>
          <a:xfrm>
            <a:off x="576071" y="4023186"/>
            <a:ext cx="10533889" cy="157862"/>
          </a:xfrm>
          <a:prstGeom prst="roundRect">
            <a:avLst/>
          </a:prstGeom>
          <a:solidFill>
            <a:srgbClr val="63666A"/>
          </a:solidFill>
          <a:ln>
            <a:solidFill>
              <a:srgbClr val="636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91C34A1-DAF8-9B30-CF68-2B737359671E}"/>
              </a:ext>
            </a:extLst>
          </p:cNvPr>
          <p:cNvSpPr txBox="1">
            <a:spLocks/>
          </p:cNvSpPr>
          <p:nvPr/>
        </p:nvSpPr>
        <p:spPr>
          <a:xfrm>
            <a:off x="8483167" y="4384000"/>
            <a:ext cx="1895548" cy="62481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None/>
              <a:defRPr sz="2000" i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Circuit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275114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7B19-7253-1A7E-A16A-2C810A4CA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Partitioning Scales Instantiation to 1000s of qubits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232560-B205-42C9-FF23-FC208D9D8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CB937-D0E1-2AD6-E4EF-7E2280FD8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046" y="865103"/>
            <a:ext cx="5289687" cy="2743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2065AE-1EEF-659C-6303-F87A17C51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330" y="3747925"/>
            <a:ext cx="7135855" cy="2653807"/>
          </a:xfrm>
          <a:prstGeom prst="rect">
            <a:avLst/>
          </a:prstGeom>
        </p:spPr>
      </p:pic>
      <p:sp>
        <p:nvSpPr>
          <p:cNvPr id="8" name="Arrow: Bent 7">
            <a:extLst>
              <a:ext uri="{FF2B5EF4-FFF2-40B4-BE49-F238E27FC236}">
                <a16:creationId xmlns:a16="http://schemas.microsoft.com/office/drawing/2014/main" id="{A42B46E4-587A-C358-B92E-7B7CC61A26FC}"/>
              </a:ext>
            </a:extLst>
          </p:cNvPr>
          <p:cNvSpPr/>
          <p:nvPr/>
        </p:nvSpPr>
        <p:spPr>
          <a:xfrm rot="5400000">
            <a:off x="6217257" y="2288158"/>
            <a:ext cx="1197864" cy="978408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76444C-1BB3-17FA-0FD0-201854E498AC}"/>
              </a:ext>
            </a:extLst>
          </p:cNvPr>
          <p:cNvSpPr txBox="1"/>
          <p:nvPr/>
        </p:nvSpPr>
        <p:spPr>
          <a:xfrm>
            <a:off x="8266176" y="1528317"/>
            <a:ext cx="335220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Circuit on the left is partitioned into 3-qubit blocks below</a:t>
            </a:r>
          </a:p>
          <a:p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Partitioning overcomes the exponential scaling of numerical instantiation</a:t>
            </a:r>
          </a:p>
          <a:p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Restricts global view; can adjust block size for better performance or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Creates an extremely parallel workflow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67A53C2D-6178-D4C2-7EDA-D9A77BEB7BB4}"/>
              </a:ext>
            </a:extLst>
          </p:cNvPr>
          <p:cNvSpPr txBox="1"/>
          <p:nvPr/>
        </p:nvSpPr>
        <p:spPr>
          <a:xfrm>
            <a:off x="2937" y="6459098"/>
            <a:ext cx="6135106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Arial"/>
              </a:rPr>
              <a:t>X.C. Wu et al. “</a:t>
            </a:r>
            <a:r>
              <a:rPr lang="en-US" sz="1000" err="1">
                <a:ea typeface="+mn-lt"/>
                <a:cs typeface="+mn-lt"/>
              </a:rPr>
              <a:t>Reoptimization</a:t>
            </a:r>
            <a:r>
              <a:rPr lang="en-US" sz="1000">
                <a:ea typeface="+mn-lt"/>
                <a:cs typeface="+mn-lt"/>
              </a:rPr>
              <a:t> of Quantum Circuits via Hierarchical Synthesis</a:t>
            </a:r>
            <a:r>
              <a:rPr lang="en-US" sz="1000">
                <a:cs typeface="Arial"/>
              </a:rPr>
              <a:t>.” </a:t>
            </a:r>
            <a:r>
              <a:rPr lang="en-US" sz="1000" i="1">
                <a:cs typeface="Arial"/>
              </a:rPr>
              <a:t>2021 IEEE International Conference on Rebooting Computing (ICRC)</a:t>
            </a:r>
            <a:r>
              <a:rPr lang="en-US" sz="1000">
                <a:cs typeface="Arial"/>
              </a:rPr>
              <a:t>. IEEE, 2021.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641763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921F-BD94-42A8-CB9E-218174DF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Push-button Compiler Verification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DCC7B0-DA6F-B929-F91A-ABF3AD8ED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43387A4C-0D9E-8CC6-E4E7-8E697780C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93" y="1527148"/>
            <a:ext cx="9107607" cy="45296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2DD1DB-41CC-14AA-18AF-55F100826E63}"/>
              </a:ext>
            </a:extLst>
          </p:cNvPr>
          <p:cNvSpPr txBox="1"/>
          <p:nvPr/>
        </p:nvSpPr>
        <p:spPr>
          <a:xfrm>
            <a:off x="8103704" y="1494688"/>
            <a:ext cx="3741207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Small circuits can have their error directly calculated</a:t>
            </a:r>
          </a:p>
          <a:p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Larger circuits can be first partitioned into large </a:t>
            </a:r>
            <a:r>
              <a:rPr lang="en-US" sz="2000" err="1"/>
              <a:t>simulatable</a:t>
            </a:r>
            <a:r>
              <a:rPr lang="en-US" sz="2000"/>
              <a:t> sections, then summing the section errors gives an upper bound on total error</a:t>
            </a:r>
            <a:endParaRPr lang="en-US" sz="2000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ea typeface="+mn-lt"/>
                <a:cs typeface="+mn-lt"/>
              </a:rPr>
              <a:t>Unless specified, we target 10</a:t>
            </a:r>
            <a:r>
              <a:rPr lang="en-US" sz="2000" baseline="30000">
                <a:ea typeface="+mn-lt"/>
                <a:cs typeface="+mn-lt"/>
              </a:rPr>
              <a:t>-8</a:t>
            </a:r>
            <a:r>
              <a:rPr lang="en-US" sz="2000">
                <a:ea typeface="+mn-lt"/>
                <a:cs typeface="+mn-lt"/>
              </a:rPr>
              <a:t> to 10</a:t>
            </a:r>
            <a:r>
              <a:rPr lang="en-US" sz="2000" baseline="30000">
                <a:ea typeface="+mn-lt"/>
                <a:cs typeface="+mn-lt"/>
              </a:rPr>
              <a:t>-10</a:t>
            </a:r>
            <a:r>
              <a:rPr lang="en-US" sz="2000">
                <a:ea typeface="+mn-lt"/>
                <a:cs typeface="+mn-lt"/>
              </a:rPr>
              <a:t> instantiation verification error, most often it is less</a:t>
            </a:r>
          </a:p>
        </p:txBody>
      </p:sp>
    </p:spTree>
    <p:extLst>
      <p:ext uri="{BB962C8B-B14F-4D97-AF65-F5344CB8AC3E}">
        <p14:creationId xmlns:p14="http://schemas.microsoft.com/office/powerpoint/2010/main" val="1056944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widths&#10;&#10;Description automatically generated">
            <a:extLst>
              <a:ext uri="{FF2B5EF4-FFF2-40B4-BE49-F238E27FC236}">
                <a16:creationId xmlns:a16="http://schemas.microsoft.com/office/drawing/2014/main" id="{F431169A-2B5B-D9AD-CC2B-8FCEFFD13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001" y="1181100"/>
            <a:ext cx="5486400" cy="411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5DB179-866A-EED7-72EA-FD96853C2030}"/>
              </a:ext>
            </a:extLst>
          </p:cNvPr>
          <p:cNvSpPr txBox="1"/>
          <p:nvPr/>
        </p:nvSpPr>
        <p:spPr>
          <a:xfrm>
            <a:off x="6908074" y="5298280"/>
            <a:ext cx="44112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Arial"/>
              </a:rPr>
              <a:t>PAM maps circuits with fewer final gates than commercial compilers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8D0235-1935-B3D5-DBE9-460C9D00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Instantiation-Based Workflows in </a:t>
            </a:r>
            <a:r>
              <a:rPr lang="en-US" dirty="0" err="1"/>
              <a:t>BQSKit</a:t>
            </a:r>
            <a:endParaRPr lang="en-US" dirty="0" err="1"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C5A45-0F91-BF08-CE7C-425749708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181849"/>
            <a:ext cx="7353299" cy="492685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cs typeface="Arial" panose="020B0604020202020204"/>
              </a:rPr>
              <a:t>Workflows perform end-to-end compilation tasks:</a:t>
            </a:r>
            <a:endParaRPr lang="en-US">
              <a:cs typeface="Arial"/>
            </a:endParaRPr>
          </a:p>
          <a:p>
            <a:pPr lvl="1">
              <a:lnSpc>
                <a:spcPct val="100000"/>
              </a:lnSpc>
              <a:buFont typeface="Courier New"/>
              <a:buChar char="o"/>
            </a:pPr>
            <a:r>
              <a:rPr lang="en-US" sz="1800" dirty="0">
                <a:latin typeface="Arial" panose="020B0604020202020204"/>
                <a:cs typeface="Arial" panose="020B0604020202020204"/>
              </a:rPr>
              <a:t>Resource Optimization</a:t>
            </a:r>
          </a:p>
          <a:p>
            <a:pPr lvl="1">
              <a:lnSpc>
                <a:spcPct val="100000"/>
              </a:lnSpc>
              <a:buFont typeface="Courier New"/>
              <a:buChar char="o"/>
            </a:pPr>
            <a:r>
              <a:rPr lang="en-US" sz="1800" dirty="0">
                <a:latin typeface="Arial" panose="020B0604020202020204"/>
                <a:cs typeface="Arial" panose="020B0604020202020204"/>
              </a:rPr>
              <a:t>Mapping/Routing</a:t>
            </a:r>
          </a:p>
          <a:p>
            <a:pPr lvl="1">
              <a:lnSpc>
                <a:spcPct val="100000"/>
              </a:lnSpc>
              <a:buFont typeface="Courier New"/>
              <a:buChar char="o"/>
            </a:pPr>
            <a:r>
              <a:rPr lang="en-US" sz="1800" dirty="0" err="1">
                <a:latin typeface="Arial"/>
                <a:cs typeface="Arial"/>
              </a:rPr>
              <a:t>Transpilation</a:t>
            </a:r>
            <a:endParaRPr lang="en-US" sz="1800" dirty="0">
              <a:latin typeface="Arial" panose="020B0604020202020204"/>
              <a:cs typeface="Arial"/>
            </a:endParaRPr>
          </a:p>
          <a:p>
            <a:pPr lvl="1">
              <a:lnSpc>
                <a:spcPct val="100000"/>
              </a:lnSpc>
              <a:buFont typeface="Courier New"/>
              <a:buChar char="o"/>
            </a:pPr>
            <a:r>
              <a:rPr lang="en-US" sz="1800" dirty="0">
                <a:latin typeface="Arial" panose="020B0604020202020204"/>
                <a:cs typeface="Arial"/>
              </a:rPr>
              <a:t>Error Mitigation</a:t>
            </a:r>
          </a:p>
          <a:p>
            <a:pPr lvl="1">
              <a:lnSpc>
                <a:spcPct val="100000"/>
              </a:lnSpc>
              <a:buFont typeface="Courier New,monospace"/>
              <a:buChar char="o"/>
            </a:pPr>
            <a:r>
              <a:rPr lang="en-US" sz="1800" dirty="0">
                <a:latin typeface="Arial" panose="020B0604020202020204"/>
                <a:cs typeface="Arial"/>
              </a:rPr>
              <a:t>Fault Tolerant Compilation</a:t>
            </a:r>
          </a:p>
          <a:p>
            <a:pPr lvl="1">
              <a:lnSpc>
                <a:spcPct val="100000"/>
              </a:lnSpc>
              <a:buFont typeface="Courier New,monospace"/>
              <a:buChar char="o"/>
            </a:pPr>
            <a:r>
              <a:rPr lang="en-US" sz="1800" dirty="0">
                <a:latin typeface="Arial" panose="020B0604020202020204"/>
                <a:cs typeface="Arial"/>
              </a:rPr>
              <a:t>Design Exploration</a:t>
            </a:r>
            <a:endParaRPr lang="en-US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/>
                <a:cs typeface="Arial"/>
              </a:rPr>
              <a:t>Advanced capabilities in </a:t>
            </a:r>
            <a:r>
              <a:rPr lang="en-US" dirty="0" err="1">
                <a:latin typeface="Arial" panose="020B0604020202020204"/>
                <a:cs typeface="Arial"/>
              </a:rPr>
              <a:t>BQSKit</a:t>
            </a:r>
            <a:r>
              <a:rPr lang="en-US" dirty="0">
                <a:latin typeface="Arial" panose="020B0604020202020204"/>
                <a:cs typeface="Arial"/>
              </a:rPr>
              <a:t>:</a:t>
            </a:r>
          </a:p>
          <a:p>
            <a:pPr lvl="1">
              <a:lnSpc>
                <a:spcPct val="100000"/>
              </a:lnSpc>
              <a:buFont typeface="Courier New"/>
              <a:buChar char="o"/>
            </a:pPr>
            <a:r>
              <a:rPr lang="en-US" sz="1800" dirty="0">
                <a:latin typeface="Arial" panose="020B0604020202020204"/>
                <a:cs typeface="Arial"/>
              </a:rPr>
              <a:t>Dynamic Circuit Synthesis</a:t>
            </a:r>
          </a:p>
          <a:p>
            <a:pPr lvl="1">
              <a:lnSpc>
                <a:spcPct val="100000"/>
              </a:lnSpc>
              <a:buFont typeface="Courier New"/>
              <a:buChar char="o"/>
            </a:pPr>
            <a:r>
              <a:rPr lang="en-US" sz="1800" dirty="0">
                <a:latin typeface="Arial" panose="020B0604020202020204"/>
                <a:cs typeface="Arial"/>
              </a:rPr>
              <a:t>Performance and Quality Scaling</a:t>
            </a:r>
          </a:p>
          <a:p>
            <a:pPr lvl="1">
              <a:lnSpc>
                <a:spcPct val="100000"/>
              </a:lnSpc>
              <a:buFont typeface="Courier New"/>
              <a:buChar char="o"/>
            </a:pPr>
            <a:r>
              <a:rPr lang="en-US" sz="1800" dirty="0">
                <a:latin typeface="Arial" panose="020B0604020202020204"/>
                <a:cs typeface="Arial"/>
              </a:rPr>
              <a:t>Hardware Portability</a:t>
            </a:r>
          </a:p>
          <a:p>
            <a:pPr lvl="1">
              <a:lnSpc>
                <a:spcPct val="100000"/>
              </a:lnSpc>
              <a:buFont typeface="Courier New"/>
              <a:buChar char="o"/>
            </a:pPr>
            <a:r>
              <a:rPr lang="en-US" sz="1800" dirty="0">
                <a:latin typeface="Arial" panose="020B0604020202020204"/>
                <a:cs typeface="Arial"/>
              </a:rPr>
              <a:t>Circuit Approximations</a:t>
            </a:r>
            <a:endParaRPr lang="en-US" sz="180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dirty="0">
                <a:cs typeface="Arial"/>
              </a:rPr>
              <a:t>Workflows can be composed to produce pipelines</a:t>
            </a:r>
          </a:p>
        </p:txBody>
      </p:sp>
    </p:spTree>
    <p:extLst>
      <p:ext uri="{BB962C8B-B14F-4D97-AF65-F5344CB8AC3E}">
        <p14:creationId xmlns:p14="http://schemas.microsoft.com/office/powerpoint/2010/main" val="258018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7F3C-55D8-29E3-11BF-2BDC1DA5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Berkeley Quantum Synthesis Toolkit Tutorial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292345-99AE-E945-172B-E1ABFCA24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EF2EA88-E9D4-0C4F-A5DF-5FE49FAF8E2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B2955-BDFF-0C87-B12F-0A8A52A78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559" y="1239132"/>
            <a:ext cx="4469051" cy="26814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E342C2-8CCC-83CB-1B52-56B0E00F5DE7}"/>
              </a:ext>
            </a:extLst>
          </p:cNvPr>
          <p:cNvSpPr txBox="1"/>
          <p:nvPr/>
        </p:nvSpPr>
        <p:spPr>
          <a:xfrm>
            <a:off x="669877" y="4432857"/>
            <a:ext cx="59595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github.com/bqskit/</a:t>
            </a:r>
            <a:r>
              <a:rPr lang="en-US" sz="3200" dirty="0" err="1"/>
              <a:t>bqskit</a:t>
            </a:r>
            <a:r>
              <a:rPr lang="en-US" sz="3200" dirty="0"/>
              <a:t>-tutorial</a:t>
            </a:r>
          </a:p>
          <a:p>
            <a:endParaRPr lang="en-US" sz="3200" dirty="0"/>
          </a:p>
          <a:p>
            <a:r>
              <a:rPr lang="en-US" sz="3200" dirty="0"/>
              <a:t>qce25 branch</a:t>
            </a:r>
          </a:p>
        </p:txBody>
      </p:sp>
      <p:pic>
        <p:nvPicPr>
          <p:cNvPr id="11" name="Picture 10" descr="Qr code&#10;&#10;Description automatically generated">
            <a:extLst>
              <a:ext uri="{FF2B5EF4-FFF2-40B4-BE49-F238E27FC236}">
                <a16:creationId xmlns:a16="http://schemas.microsoft.com/office/drawing/2014/main" id="{E33CE8B7-D2CC-0557-63AA-F0F44C356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220" y="1644396"/>
            <a:ext cx="3569208" cy="356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06999"/>
      </p:ext>
    </p:extLst>
  </p:cSld>
  <p:clrMapOvr>
    <a:masterClrMapping/>
  </p:clrMapOvr>
</p:sld>
</file>

<file path=ppt/theme/theme1.xml><?xml version="1.0" encoding="utf-8"?>
<a:theme xmlns:a="http://schemas.openxmlformats.org/drawingml/2006/main" name="Berkeley Lab Wide PPT Theme">
  <a:themeElements>
    <a:clrScheme name="2020 LBNL Color Theme">
      <a:dk1>
        <a:srgbClr val="00303C"/>
      </a:dk1>
      <a:lt1>
        <a:srgbClr val="FFFFFF"/>
      </a:lt1>
      <a:dk2>
        <a:srgbClr val="00303B"/>
      </a:dk2>
      <a:lt2>
        <a:srgbClr val="B1B3B3"/>
      </a:lt2>
      <a:accent1>
        <a:srgbClr val="007681"/>
      </a:accent1>
      <a:accent2>
        <a:srgbClr val="4198B5"/>
      </a:accent2>
      <a:accent3>
        <a:srgbClr val="D57800"/>
      </a:accent3>
      <a:accent4>
        <a:srgbClr val="74AA50"/>
      </a:accent4>
      <a:accent5>
        <a:srgbClr val="EAAA00"/>
      </a:accent5>
      <a:accent6>
        <a:srgbClr val="E04E38"/>
      </a:accent6>
      <a:hlink>
        <a:srgbClr val="0055D1"/>
      </a:hlink>
      <a:folHlink>
        <a:srgbClr val="6633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BNL_PPT_WideNew_Template_2020" id="{C6E9C8EA-3D6B-A14A-A256-FF0550AA0259}" vid="{02A6AE1C-0421-BE4C-A2DB-37E0776A5C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FCA4C34E0E7C40B4BFF811F752D047" ma:contentTypeVersion="9" ma:contentTypeDescription="Create a new document." ma:contentTypeScope="" ma:versionID="da2ebfcff28b5124a9007b4958990905">
  <xsd:schema xmlns:xsd="http://www.w3.org/2001/XMLSchema" xmlns:xs="http://www.w3.org/2001/XMLSchema" xmlns:p="http://schemas.microsoft.com/office/2006/metadata/properties" xmlns:ns3="07ed39fe-3add-486c-9f71-9300cec26beb" xmlns:ns4="5a3d5317-7bfa-4f95-a3bd-c9c84ac49b08" targetNamespace="http://schemas.microsoft.com/office/2006/metadata/properties" ma:root="true" ma:fieldsID="e6e45663098e609649252f26bac84ad5" ns3:_="" ns4:_="">
    <xsd:import namespace="07ed39fe-3add-486c-9f71-9300cec26beb"/>
    <xsd:import namespace="5a3d5317-7bfa-4f95-a3bd-c9c84ac49b0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ed39fe-3add-486c-9f71-9300cec26b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3d5317-7bfa-4f95-a3bd-c9c84ac49b0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ed39fe-3add-486c-9f71-9300cec26beb" xsi:nil="true"/>
  </documentManagement>
</p:properties>
</file>

<file path=customXml/itemProps1.xml><?xml version="1.0" encoding="utf-8"?>
<ds:datastoreItem xmlns:ds="http://schemas.openxmlformats.org/officeDocument/2006/customXml" ds:itemID="{CC063D38-2458-484E-8431-4B9965F3F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ed39fe-3add-486c-9f71-9300cec26beb"/>
    <ds:schemaRef ds:uri="5a3d5317-7bfa-4f95-a3bd-c9c84ac49b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C8D5FC-3B35-4139-8041-180F26B909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71F949-8710-44CB-8C0A-48553D80ACAA}">
  <ds:schemaRefs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5a3d5317-7bfa-4f95-a3bd-c9c84ac49b08"/>
    <ds:schemaRef ds:uri="07ed39fe-3add-486c-9f71-9300cec26beb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76663c2-ba6e-447f-8b2f-9699f07a15a4}" enabled="0" method="" siteId="{576663c2-ba6e-447f-8b2f-9699f07a15a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BQSKit-template</Template>
  <TotalTime>3951</TotalTime>
  <Words>749</Words>
  <Application>Microsoft Office PowerPoint</Application>
  <PresentationFormat>Widescreen</PresentationFormat>
  <Paragraphs>140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Courier New,monospace</vt:lpstr>
      <vt:lpstr>Berkeley Lab Wide PPT Theme</vt:lpstr>
      <vt:lpstr>Compiling Resource-Efficient Programs with BQSKit</vt:lpstr>
      <vt:lpstr>Quantum Hardware R&amp;D is Experiencing a Boon</vt:lpstr>
      <vt:lpstr>Berkeley Quantum Synthesis Toolkit (BQSKit) [bis • kit] </vt:lpstr>
      <vt:lpstr>Turn-key Functionality that Works Everywhere</vt:lpstr>
      <vt:lpstr>Parameterized Circuit Instantiation: A Powerful Primitive</vt:lpstr>
      <vt:lpstr>Instantiation Enables Function and Structure Separation</vt:lpstr>
      <vt:lpstr>Instantiation is the Core of Bottom-Up Synthesis</vt:lpstr>
      <vt:lpstr>Instantiation-Based Circuit Transformation Flow</vt:lpstr>
      <vt:lpstr>Gate Deletion is Straight Forward with Instantiation</vt:lpstr>
      <vt:lpstr>Instantiation-Based Algorithms in BQSKit</vt:lpstr>
      <vt:lpstr>Partitioning Scales Instantiation to 1000s of qubits</vt:lpstr>
      <vt:lpstr>Push-button Compiler Verification</vt:lpstr>
      <vt:lpstr>Instantiation-Based Workflows in BQSKit</vt:lpstr>
      <vt:lpstr>Berkeley Quantum Synthesis Toolkit Tutorial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w/color backgrounds</dc:title>
  <dc:subject/>
  <dc:creator>Ed  Younis</dc:creator>
  <cp:keywords/>
  <dc:description/>
  <cp:lastModifiedBy>Ed  Younis</cp:lastModifiedBy>
  <cp:revision>148</cp:revision>
  <dcterms:created xsi:type="dcterms:W3CDTF">2022-09-14T12:53:29Z</dcterms:created>
  <dcterms:modified xsi:type="dcterms:W3CDTF">2025-08-31T04:59:38Z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0x010100A7FCA4C34E0E7C40B4BFF811F752D047</vt:lpwstr>
  </property>
</Properties>
</file>
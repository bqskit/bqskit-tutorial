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453" r:id="rId2"/>
    <p:sldId id="455" r:id="rId3"/>
    <p:sldId id="457" r:id="rId4"/>
    <p:sldId id="452" r:id="rId5"/>
    <p:sldId id="454" r:id="rId6"/>
    <p:sldId id="451" r:id="rId7"/>
    <p:sldId id="456" r:id="rId8"/>
    <p:sldId id="449" r:id="rId9"/>
    <p:sldId id="450" r:id="rId10"/>
    <p:sldId id="389" r:id="rId11"/>
    <p:sldId id="390" r:id="rId12"/>
    <p:sldId id="440" r:id="rId13"/>
    <p:sldId id="445" r:id="rId14"/>
    <p:sldId id="446" r:id="rId15"/>
    <p:sldId id="388" r:id="rId16"/>
    <p:sldId id="35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0"/>
    <p:restoredTop sz="94694"/>
  </p:normalViewPr>
  <p:slideViewPr>
    <p:cSldViewPr snapToGrid="0">
      <p:cViewPr varScale="1">
        <p:scale>
          <a:sx n="108" d="100"/>
          <a:sy n="108" d="100"/>
        </p:scale>
        <p:origin x="216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B4E6B4-6EB7-EB4E-8F8A-10588301B279}" type="datetimeFigureOut">
              <a:rPr lang="en-US" smtClean="0"/>
              <a:t>8/30/25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498368-A0FA-EE4A-9EFF-1AC1BA9235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42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5C698-6E0C-0978-6F4F-84770583C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B543F1-F95D-50B3-1607-2CFCF2070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F91333-9AB2-1913-5235-508F16348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EED67-DFED-5FEE-D6C5-AFC5245A4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DD09A-A7EA-F240-8C4A-3FAABB2D807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2502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0BCFC-6844-F15C-02EF-350B8AE3A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FBFF36-412A-E14F-A937-483CFE769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34632-1AE6-CFCC-634D-0553721510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A4340-ACDD-3BAD-F691-5BCFFC886D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DD09A-A7EA-F240-8C4A-3FAABB2D807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422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DD09A-A7EA-F240-8C4A-3FAABB2D807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297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62225-71AD-4BA0-CCE7-8BF409B8E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0F9018-5B94-F341-D0E1-1F8148182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72ECD8-B9BF-0683-EFF4-848F8CF447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6B31D-5552-CBE2-EC60-88BEB18C82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DD09A-A7EA-F240-8C4A-3FAABB2D807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888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DD09A-A7EA-F240-8C4A-3FAABB2D807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940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04765-5105-09CC-4F84-67AD7B469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934D5A-5F8A-153B-FCB8-6F75BF2E38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76A45A-39E9-30EE-CA12-6398F752C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A2349-DF25-214F-998A-754873D68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DD09A-A7EA-F240-8C4A-3FAABB2D807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1125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DD09A-A7EA-F240-8C4A-3FAABB2D807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005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DD09A-A7EA-F240-8C4A-3FAABB2D807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809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49991-C437-CB00-E138-D227CB73F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7769E9-AF68-1322-1D85-270977644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51135-34A3-D58B-D0E9-AF114DFD40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with </a:t>
            </a:r>
            <a:r>
              <a:rPr lang="en-US" dirty="0" err="1"/>
              <a:t>Jupyter</a:t>
            </a:r>
            <a:r>
              <a:rPr lang="en-US" dirty="0"/>
              <a:t> Notebook 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83FFC-F07E-775C-021C-2AB9645A4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DD09A-A7EA-F240-8C4A-3FAABB2D807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3451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to </a:t>
            </a:r>
            <a:r>
              <a:rPr lang="en-US" dirty="0" err="1"/>
              <a:t>Jupyter</a:t>
            </a:r>
            <a:r>
              <a:rPr lang="en-US" dirty="0"/>
              <a:t> Demo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FDD09A-A7EA-F240-8C4A-3FAABB2D807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929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D3325-67EF-9578-128B-88C98F9A5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DAE478-BC95-0FAC-A365-CAE3FE55C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CB1DF-2480-DFBB-20D4-BC8B82C4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CA9F-A597-E044-8F57-C74074F95962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03BD7-A0FF-E4F2-0A00-96F99AE06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158F6-3D9E-53DF-CAFC-62A5340B4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E8DF-921A-CA45-B7C0-2D51C0CA4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05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07C36-2DB8-6FF1-59F0-D22D1466A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1273C-9BCA-665A-66C0-07479A2CA8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556BB-726B-00BC-9B27-0ABC2C89A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CA9F-A597-E044-8F57-C74074F95962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BBE163-C269-0242-9537-D2B4C48E5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04A9C-3F5A-0E37-A33A-562D236DA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E8DF-921A-CA45-B7C0-2D51C0CA4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099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3CB94-22E6-A626-B3EE-3E298B007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6A180-1A48-EC29-3318-6EEDB87DB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5C50C-C817-9601-BFD3-926D47813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CA9F-A597-E044-8F57-C74074F95962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FEB4F-281A-0FFB-9328-F50866E82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A0F93-EA98-CABD-4438-EB44BCB92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E8DF-921A-CA45-B7C0-2D51C0CA4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889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BEE43-A2DA-83B9-6C4D-3B50337D2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03A9C-D3C2-CD5E-A749-95F8625EE7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5F16FF-4EFF-9A0E-9578-397BE96FD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840999-E4EE-B36C-936E-46DE52DE4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CA9F-A597-E044-8F57-C74074F95962}" type="datetimeFigureOut">
              <a:rPr lang="en-US" smtClean="0"/>
              <a:t>8/30/25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ED54B7-45BE-9215-AAD2-70C222BE7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B5B29-A11D-C70D-3EAB-7D61BEA28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E8DF-921A-CA45-B7C0-2D51C0CA4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275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7B1C2-500A-5439-9D17-0AB2771C4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03899D-2267-1B56-EF42-2F47D9F56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050AA4-FC9B-90ED-0998-5B9FFDD4A1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F097BE-EFD9-61F1-FF94-D3FF29FA5D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79A67F-B143-E118-B1C6-9FD6621CD7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56F54A-47B6-F528-5B75-79CEAA115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CA9F-A597-E044-8F57-C74074F95962}" type="datetimeFigureOut">
              <a:rPr lang="en-US" smtClean="0"/>
              <a:t>8/30/25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532D9E-ADCB-5C28-B5B7-3C306E5B6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BBF6E9-EF55-64B0-B3FB-D40B9A607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E8DF-921A-CA45-B7C0-2D51C0CA4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19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7ABA4-ED36-E5E7-3F9C-81131A0C4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2F44C4-40A3-4F71-9BBE-14FBEAA96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CA9F-A597-E044-8F57-C74074F95962}" type="datetimeFigureOut">
              <a:rPr lang="en-US" smtClean="0"/>
              <a:t>8/30/25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E1DFF4-91C6-7475-F9C4-47AC02AA7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83DEE0-D804-A327-D787-AB2B51299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E8DF-921A-CA45-B7C0-2D51C0CA4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021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A2A1AA-744F-93DE-A7F2-80DD5808F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CA9F-A597-E044-8F57-C74074F95962}" type="datetimeFigureOut">
              <a:rPr lang="en-US" smtClean="0"/>
              <a:t>8/30/25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5ECAFC-D79E-37F5-FCD5-C5041109E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8E08A-133A-DC6E-DE86-B02C2B0D8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E8DF-921A-CA45-B7C0-2D51C0CA4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64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3E28B-5C28-5034-B798-3FDBF78EA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D706F0-C2F7-FBBA-32F7-1616CB64F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F2EF8E-A4C5-C17F-EDB7-20F15E630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D7DF9-C912-2648-771F-519719B9F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CA9F-A597-E044-8F57-C74074F95962}" type="datetimeFigureOut">
              <a:rPr lang="en-US" smtClean="0"/>
              <a:t>8/30/25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A8B44F-DBA6-D80E-8F91-22061198D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92288-B46A-2C3A-CE9C-09316EF9D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E8DF-921A-CA45-B7C0-2D51C0CA4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031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B0578-F910-0914-EF26-B070B3FC6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369DE0-47D6-3DC6-2608-B1C289602F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439C7B-9B86-CBFC-91BA-4304089DD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4DC5B-421F-53D5-B067-932744B3F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CA9F-A597-E044-8F57-C74074F95962}" type="datetimeFigureOut">
              <a:rPr lang="en-US" smtClean="0"/>
              <a:t>8/30/25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13EAE3-944F-E979-6685-C1156580C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C48780-F7BF-067E-85CB-C4FC651FD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E8DF-921A-CA45-B7C0-2D51C0CA4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77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CE08C-733A-41F5-44BB-1C0B5E3C6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F87B7-0831-1AC5-42D9-E308909F45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DE221-21AC-58A2-12C8-561785407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CA9F-A597-E044-8F57-C74074F95962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CED1F-4479-6D52-C152-3C542A4DE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57324-483E-D7F5-05A9-261E56299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E8DF-921A-CA45-B7C0-2D51C0CA4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023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F24EDA-22B4-E817-C4CF-DFAD26D574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B94A3-2DAB-E24A-16B5-D4D12717B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92935-8671-CB97-7AC4-7B1F0A5E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BCA9F-A597-E044-8F57-C74074F95962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857AF-704A-4DA8-0C6A-CD5EF0BBD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3904E-109C-0EA6-5A6B-91F3A1C5F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50E8DF-921A-CA45-B7C0-2D51C0CA4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733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 userDrawn="1"/>
        </p:nvGrpSpPr>
        <p:grpSpPr>
          <a:xfrm>
            <a:off x="-201766" y="-141165"/>
            <a:ext cx="12586564" cy="7136527"/>
            <a:chOff x="-151325" y="-141165"/>
            <a:chExt cx="9439923" cy="7136527"/>
          </a:xfrm>
        </p:grpSpPr>
        <p:grpSp>
          <p:nvGrpSpPr>
            <p:cNvPr id="9" name="Group 8"/>
            <p:cNvGrpSpPr/>
            <p:nvPr userDrawn="1"/>
          </p:nvGrpSpPr>
          <p:grpSpPr>
            <a:xfrm>
              <a:off x="457731" y="6873247"/>
              <a:ext cx="8226688" cy="122115"/>
              <a:chOff x="457731" y="6582508"/>
              <a:chExt cx="8226688" cy="486507"/>
            </a:xfrm>
          </p:grpSpPr>
          <p:cxnSp>
            <p:nvCxnSpPr>
              <p:cNvPr id="118" name="Straight Connector 117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51" name="Straight Connector 15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1" name="Group 120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9" name="Straight Connector 14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Connector 14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2" name="Group 121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7" name="Straight Connector 14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Connector 14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3" name="Group 122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5" name="Straight Connector 14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4" name="Group 123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3" name="Straight Connector 14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5" name="Group 124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41" name="Straight Connector 14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6" name="Group 125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9" name="Straight Connector 13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7" name="Group 126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7" name="Straight Connector 13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8" name="Group 127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5" name="Straight Connector 13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9" name="Group 128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3" name="Straight Connector 13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30" name="Group 129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131" name="Straight Connector 13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" name="Group 9"/>
            <p:cNvGrpSpPr/>
            <p:nvPr userDrawn="1"/>
          </p:nvGrpSpPr>
          <p:grpSpPr>
            <a:xfrm>
              <a:off x="-151325" y="454007"/>
              <a:ext cx="122115" cy="5945205"/>
              <a:chOff x="-238875" y="454007"/>
              <a:chExt cx="122115" cy="5945205"/>
            </a:xfrm>
          </p:grpSpPr>
          <p:cxnSp>
            <p:nvCxnSpPr>
              <p:cNvPr id="83" name="Straight Connector 82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4" name="Group 83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16" name="Straight Connector 11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5" name="Group 84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14" name="Straight Connector 11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6" name="Group 85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12" name="Straight Connector 11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7" name="Group 86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10" name="Straight Connector 10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8" name="Group 87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8" name="Straight Connector 10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9" name="Group 88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6" name="Straight Connector 10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0" name="Group 89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4" name="Straight Connector 10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1" name="Group 90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2" name="Straight Connector 10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2" name="Group 91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100" name="Straight Connector 9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3" name="Group 92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98" name="Straight Connector 9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4" name="Group 93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96" name="Straight Connector 9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Straight Connector 9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5" name="Straight Connector 94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/>
            <p:cNvGrpSpPr/>
            <p:nvPr userDrawn="1"/>
          </p:nvGrpSpPr>
          <p:grpSpPr>
            <a:xfrm>
              <a:off x="9166483" y="454007"/>
              <a:ext cx="122115" cy="5945205"/>
              <a:chOff x="-238875" y="454007"/>
              <a:chExt cx="122115" cy="5945205"/>
            </a:xfrm>
          </p:grpSpPr>
          <p:cxnSp>
            <p:nvCxnSpPr>
              <p:cNvPr id="48" name="Straight Connector 47"/>
              <p:cNvCxnSpPr/>
              <p:nvPr userDrawn="1"/>
            </p:nvCxnSpPr>
            <p:spPr>
              <a:xfrm rot="5400000">
                <a:off x="-177817" y="392949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 userDrawn="1"/>
            </p:nvGrpSpPr>
            <p:grpSpPr>
              <a:xfrm rot="5400000">
                <a:off x="-254017" y="594070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81" name="Straight Connector 8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" name="Group 49"/>
              <p:cNvGrpSpPr/>
              <p:nvPr userDrawn="1"/>
            </p:nvGrpSpPr>
            <p:grpSpPr>
              <a:xfrm rot="5400000">
                <a:off x="-254017" y="546706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9" name="Straight Connector 7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" name="Group 50"/>
              <p:cNvGrpSpPr/>
              <p:nvPr userDrawn="1"/>
            </p:nvGrpSpPr>
            <p:grpSpPr>
              <a:xfrm rot="5400000">
                <a:off x="-254017" y="499342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7" name="Straight Connector 7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2" name="Group 51"/>
              <p:cNvGrpSpPr/>
              <p:nvPr userDrawn="1"/>
            </p:nvGrpSpPr>
            <p:grpSpPr>
              <a:xfrm rot="5400000">
                <a:off x="-254017" y="451978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5" name="Straight Connector 7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" name="Group 52"/>
              <p:cNvGrpSpPr/>
              <p:nvPr userDrawn="1"/>
            </p:nvGrpSpPr>
            <p:grpSpPr>
              <a:xfrm rot="5400000">
                <a:off x="-254017" y="404614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3" name="Straight Connector 7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" name="Group 53"/>
              <p:cNvGrpSpPr/>
              <p:nvPr userDrawn="1"/>
            </p:nvGrpSpPr>
            <p:grpSpPr>
              <a:xfrm rot="5400000">
                <a:off x="-254017" y="3572499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71" name="Straight Connector 7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Straight Connector 7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5" name="Group 54"/>
              <p:cNvGrpSpPr/>
              <p:nvPr userDrawn="1"/>
            </p:nvGrpSpPr>
            <p:grpSpPr>
              <a:xfrm rot="5400000">
                <a:off x="-254017" y="3098857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9" name="Straight Connector 68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Straight Connector 69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6" name="Group 55"/>
              <p:cNvGrpSpPr/>
              <p:nvPr userDrawn="1"/>
            </p:nvGrpSpPr>
            <p:grpSpPr>
              <a:xfrm rot="5400000">
                <a:off x="-254017" y="2625215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7" name="Straight Connector 66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" name="Group 56"/>
              <p:cNvGrpSpPr/>
              <p:nvPr userDrawn="1"/>
            </p:nvGrpSpPr>
            <p:grpSpPr>
              <a:xfrm rot="5400000">
                <a:off x="-254017" y="2151573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5" name="Straight Connector 64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8" name="Group 57"/>
              <p:cNvGrpSpPr/>
              <p:nvPr userDrawn="1"/>
            </p:nvGrpSpPr>
            <p:grpSpPr>
              <a:xfrm rot="5400000">
                <a:off x="-254017" y="1677931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3" name="Straight Connector 62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9" name="Group 58"/>
              <p:cNvGrpSpPr/>
              <p:nvPr userDrawn="1"/>
            </p:nvGrpSpPr>
            <p:grpSpPr>
              <a:xfrm rot="5400000">
                <a:off x="-254017" y="997340"/>
                <a:ext cx="152400" cy="122115"/>
                <a:chOff x="7983415" y="6582508"/>
                <a:chExt cx="152400" cy="486507"/>
              </a:xfrm>
            </p:grpSpPr>
            <p:cxnSp>
              <p:nvCxnSpPr>
                <p:cNvPr id="61" name="Straight Connector 60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0" name="Straight Connector 59"/>
              <p:cNvCxnSpPr/>
              <p:nvPr userDrawn="1"/>
            </p:nvCxnSpPr>
            <p:spPr>
              <a:xfrm rot="5400000">
                <a:off x="-177817" y="6338154"/>
                <a:ext cx="0" cy="122115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/>
            <p:cNvGrpSpPr/>
            <p:nvPr userDrawn="1"/>
          </p:nvGrpSpPr>
          <p:grpSpPr>
            <a:xfrm>
              <a:off x="457731" y="-141165"/>
              <a:ext cx="8226688" cy="122115"/>
              <a:chOff x="457731" y="6582508"/>
              <a:chExt cx="8226688" cy="486507"/>
            </a:xfrm>
          </p:grpSpPr>
          <p:cxnSp>
            <p:nvCxnSpPr>
              <p:cNvPr id="13" name="Straight Connector 12"/>
              <p:cNvCxnSpPr/>
              <p:nvPr userDrawn="1"/>
            </p:nvCxnSpPr>
            <p:spPr>
              <a:xfrm>
                <a:off x="457731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 userDrawn="1"/>
            </p:nvCxnSpPr>
            <p:spPr>
              <a:xfrm>
                <a:off x="8684419" y="6582508"/>
                <a:ext cx="0" cy="48650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5" name="Group 14"/>
              <p:cNvGrpSpPr/>
              <p:nvPr userDrawn="1"/>
            </p:nvGrpSpPr>
            <p:grpSpPr>
              <a:xfrm>
                <a:off x="798615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6" name="Straight Connector 4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Group 15"/>
              <p:cNvGrpSpPr/>
              <p:nvPr userDrawn="1"/>
            </p:nvGrpSpPr>
            <p:grpSpPr>
              <a:xfrm>
                <a:off x="7287901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4" name="Straight Connector 4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" name="Group 16"/>
              <p:cNvGrpSpPr/>
              <p:nvPr userDrawn="1"/>
            </p:nvGrpSpPr>
            <p:grpSpPr>
              <a:xfrm>
                <a:off x="6589644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2" name="Straight Connector 4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" name="Group 17"/>
              <p:cNvGrpSpPr/>
              <p:nvPr userDrawn="1"/>
            </p:nvGrpSpPr>
            <p:grpSpPr>
              <a:xfrm>
                <a:off x="5891387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40" name="Straight Connector 3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/>
              <p:cNvGrpSpPr/>
              <p:nvPr userDrawn="1"/>
            </p:nvGrpSpPr>
            <p:grpSpPr>
              <a:xfrm>
                <a:off x="5193130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8" name="Straight Connector 3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Group 19"/>
              <p:cNvGrpSpPr/>
              <p:nvPr userDrawn="1"/>
            </p:nvGrpSpPr>
            <p:grpSpPr>
              <a:xfrm>
                <a:off x="4494873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6" name="Straight Connector 3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1" name="Group 20"/>
              <p:cNvGrpSpPr/>
              <p:nvPr userDrawn="1"/>
            </p:nvGrpSpPr>
            <p:grpSpPr>
              <a:xfrm>
                <a:off x="3796616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4" name="Straight Connector 33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oup 21"/>
              <p:cNvGrpSpPr/>
              <p:nvPr userDrawn="1"/>
            </p:nvGrpSpPr>
            <p:grpSpPr>
              <a:xfrm>
                <a:off x="3098359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2" name="Straight Connector 31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22"/>
              <p:cNvGrpSpPr/>
              <p:nvPr userDrawn="1"/>
            </p:nvGrpSpPr>
            <p:grpSpPr>
              <a:xfrm>
                <a:off x="2400102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30" name="Straight Connector 29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" name="Group 23"/>
              <p:cNvGrpSpPr/>
              <p:nvPr userDrawn="1"/>
            </p:nvGrpSpPr>
            <p:grpSpPr>
              <a:xfrm>
                <a:off x="1701845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8" name="Straight Connector 27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" name="Group 24"/>
              <p:cNvGrpSpPr/>
              <p:nvPr userDrawn="1"/>
            </p:nvGrpSpPr>
            <p:grpSpPr>
              <a:xfrm>
                <a:off x="1003588" y="6582508"/>
                <a:ext cx="152400" cy="486507"/>
                <a:chOff x="7983415" y="6582508"/>
                <a:chExt cx="152400" cy="486507"/>
              </a:xfrm>
            </p:grpSpPr>
            <p:cxnSp>
              <p:nvCxnSpPr>
                <p:cNvPr id="26" name="Straight Connector 25"/>
                <p:cNvCxnSpPr/>
                <p:nvPr userDrawn="1"/>
              </p:nvCxnSpPr>
              <p:spPr>
                <a:xfrm>
                  <a:off x="81358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/>
                <p:cNvCxnSpPr/>
                <p:nvPr userDrawn="1"/>
              </p:nvCxnSpPr>
              <p:spPr>
                <a:xfrm>
                  <a:off x="7983415" y="6582508"/>
                  <a:ext cx="0" cy="486507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155" name="Picture Placeholder 154">
            <a:extLst>
              <a:ext uri="{FF2B5EF4-FFF2-40B4-BE49-F238E27FC236}">
                <a16:creationId xmlns:a16="http://schemas.microsoft.com/office/drawing/2014/main" id="{DDEDD069-6DED-8E45-89A4-F1AB098B03F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" y="0"/>
            <a:ext cx="12192000" cy="314801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5B34909-93F8-AB34-E9EE-925002D2F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059" y="3321097"/>
            <a:ext cx="10968916" cy="809919"/>
          </a:xfrm>
        </p:spPr>
        <p:txBody>
          <a:bodyPr anchor="b" anchorCtr="0">
            <a:noAutofit/>
          </a:bodyPr>
          <a:lstStyle>
            <a:lvl1pPr algn="ctr">
              <a:defRPr sz="5400" baseline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529723A-0ED1-367A-9D2C-BABA5E020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059" y="4298665"/>
            <a:ext cx="10968916" cy="357392"/>
          </a:xfrm>
        </p:spPr>
        <p:txBody>
          <a:bodyPr>
            <a:noAutofit/>
          </a:bodyPr>
          <a:lstStyle>
            <a:lvl1pPr marL="0" indent="0" algn="ctr" fontAlgn="ctr">
              <a:buNone/>
              <a:defRPr b="0" i="0" baseline="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53">
            <a:extLst>
              <a:ext uri="{FF2B5EF4-FFF2-40B4-BE49-F238E27FC236}">
                <a16:creationId xmlns:a16="http://schemas.microsoft.com/office/drawing/2014/main" id="{CC7F8844-80B2-98D7-0136-9E1A3E3292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7059" y="4825577"/>
            <a:ext cx="10968916" cy="267972"/>
          </a:xfrm>
        </p:spPr>
        <p:txBody>
          <a:bodyPr>
            <a:noAutofit/>
          </a:bodyPr>
          <a:lstStyle>
            <a:lvl1pPr marL="0" indent="0" algn="ctr">
              <a:buNone/>
              <a:defRPr sz="1200" b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56" name="Picture 155" descr="A close up of a sign&#10;&#10;Description automatically generated">
            <a:extLst>
              <a:ext uri="{FF2B5EF4-FFF2-40B4-BE49-F238E27FC236}">
                <a16:creationId xmlns:a16="http://schemas.microsoft.com/office/drawing/2014/main" id="{8115D405-C31C-D4D0-C5AF-38ED65FB54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7480" y="5618480"/>
            <a:ext cx="3200400" cy="817306"/>
          </a:xfrm>
          <a:prstGeom prst="rect">
            <a:avLst/>
          </a:prstGeom>
        </p:spPr>
      </p:pic>
      <p:pic>
        <p:nvPicPr>
          <p:cNvPr id="157" name="Picture 156" descr="A close up of a sign&#10;&#10;Description automatically generated">
            <a:extLst>
              <a:ext uri="{FF2B5EF4-FFF2-40B4-BE49-F238E27FC236}">
                <a16:creationId xmlns:a16="http://schemas.microsoft.com/office/drawing/2014/main" id="{22939852-8B5D-F7B3-B559-8B03B9741B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09446" y="5680486"/>
            <a:ext cx="1773936" cy="574312"/>
          </a:xfrm>
          <a:prstGeom prst="rect">
            <a:avLst/>
          </a:prstGeom>
        </p:spPr>
      </p:pic>
      <p:pic>
        <p:nvPicPr>
          <p:cNvPr id="159" name="Picture 158">
            <a:extLst>
              <a:ext uri="{FF2B5EF4-FFF2-40B4-BE49-F238E27FC236}">
                <a16:creationId xmlns:a16="http://schemas.microsoft.com/office/drawing/2014/main" id="{F3AED96A-6712-5115-6A13-BB76C1D92DC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04120" y="5544672"/>
            <a:ext cx="1415143" cy="849086"/>
          </a:xfrm>
          <a:prstGeom prst="rect">
            <a:avLst/>
          </a:prstGeom>
        </p:spPr>
      </p:pic>
      <p:pic>
        <p:nvPicPr>
          <p:cNvPr id="161" name="Picture 160">
            <a:extLst>
              <a:ext uri="{FF2B5EF4-FFF2-40B4-BE49-F238E27FC236}">
                <a16:creationId xmlns:a16="http://schemas.microsoft.com/office/drawing/2014/main" id="{3A607ED9-97E4-5261-035F-AB43F928172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953047" y="5541905"/>
            <a:ext cx="1702948" cy="851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62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07059C-1C18-5C3F-D0CE-FE27CA4B1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66A72-EA3A-5D21-1F07-627356C36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5ECAD-3EDE-AC38-CA84-1A5173F58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7BCA9F-A597-E044-8F57-C74074F95962}" type="datetimeFigureOut">
              <a:rPr lang="en-US" smtClean="0"/>
              <a:t>8/30/25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0FE21-423D-C528-5025-57F883DE67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D6127-F018-3C52-E15E-FD3D74BDE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50E8DF-921A-CA45-B7C0-2D51C0CA47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860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emf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15" Type="http://schemas.openxmlformats.org/officeDocument/2006/relationships/image" Target="../media/image38.png"/><Relationship Id="rId14" Type="http://schemas.openxmlformats.org/officeDocument/2006/relationships/image" Target="../media/image25.png"/><Relationship Id="rId9" Type="http://schemas.openxmlformats.org/officeDocument/2006/relationships/image" Target="../media/image24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43F6D-7737-7FD7-F12D-CA612B628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0BC1B5-8E32-9586-8725-225BC77E71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059" y="3814873"/>
            <a:ext cx="10968916" cy="809919"/>
          </a:xfrm>
        </p:spPr>
        <p:txBody>
          <a:bodyPr/>
          <a:lstStyle/>
          <a:p>
            <a:r>
              <a:rPr lang="en-US" sz="4400" dirty="0"/>
              <a:t>Circuit Synthesis for Early Fault-Tolerant Quantum Computers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8F8264E-D8E2-20C2-6C2C-530C9A057C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059" y="4810729"/>
            <a:ext cx="10968916" cy="3573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latin typeface="Arial"/>
                <a:cs typeface="Arial"/>
              </a:rPr>
              <a:t>Ed Younis, Justin </a:t>
            </a:r>
            <a:r>
              <a:rPr lang="en-US" dirty="0" err="1">
                <a:latin typeface="Arial"/>
                <a:cs typeface="Arial"/>
              </a:rPr>
              <a:t>Kalloor</a:t>
            </a:r>
            <a:r>
              <a:rPr lang="en-US" dirty="0">
                <a:latin typeface="Arial"/>
                <a:cs typeface="Arial"/>
              </a:rPr>
              <a:t>, Mathias Weiden, Siyuan Niu, Costin Iancu</a:t>
            </a:r>
          </a:p>
        </p:txBody>
      </p:sp>
      <p:pic>
        <p:nvPicPr>
          <p:cNvPr id="18" name="Picture Placeholder 41" descr="A sunset in the background&#10;&#10;Description automatically generated">
            <a:extLst>
              <a:ext uri="{FF2B5EF4-FFF2-40B4-BE49-F238E27FC236}">
                <a16:creationId xmlns:a16="http://schemas.microsoft.com/office/drawing/2014/main" id="{4AA30120-05CA-69CC-4789-FBA648A3E26C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 t="10935" b="10935"/>
          <a:stretch/>
        </p:blipFill>
        <p:spPr>
          <a:xfrm>
            <a:off x="0" y="0"/>
            <a:ext cx="12192000" cy="3148013"/>
          </a:xfrm>
          <a:prstGeom prst="rect">
            <a:avLst/>
          </a:prstGeom>
        </p:spPr>
      </p:pic>
      <p:pic>
        <p:nvPicPr>
          <p:cNvPr id="1026" name="Picture 2" descr="Photo of gloved handed holding a slim pen-sized flashlight over a quantum fridge.">
            <a:extLst>
              <a:ext uri="{FF2B5EF4-FFF2-40B4-BE49-F238E27FC236}">
                <a16:creationId xmlns:a16="http://schemas.microsoft.com/office/drawing/2014/main" id="{5A2D8D01-F4BF-1369-B6AD-3527BAD13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83" y="0"/>
            <a:ext cx="12192000" cy="3148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870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78B66-3AA4-19D7-28F5-1C1804392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96953-2AA8-3D72-3E63-7D9A2B15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BQSKit</a:t>
            </a:r>
            <a:r>
              <a:rPr lang="en-US" dirty="0"/>
              <a:t>-FT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500D20-E396-102B-45F7-BAEB862111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AA77311-3849-3652-DE84-A489DA454C1B}"/>
              </a:ext>
            </a:extLst>
          </p:cNvPr>
          <p:cNvSpPr txBox="1">
            <a:spLocks/>
          </p:cNvSpPr>
          <p:nvPr/>
        </p:nvSpPr>
        <p:spPr>
          <a:xfrm>
            <a:off x="515961" y="1391666"/>
            <a:ext cx="11160078" cy="45084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Arial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388" indent="-227013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25425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227013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400" dirty="0" err="1">
                <a:latin typeface="Arial"/>
                <a:cs typeface="Arial"/>
              </a:rPr>
              <a:t>BQSKit</a:t>
            </a:r>
            <a:r>
              <a:rPr lang="en-US" sz="2400" dirty="0">
                <a:latin typeface="Arial"/>
                <a:cs typeface="Arial"/>
              </a:rPr>
              <a:t> works very well for NISQ-style applications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Arial"/>
                <a:cs typeface="Arial"/>
              </a:rPr>
              <a:t>Circuits contain </a:t>
            </a:r>
            <a:r>
              <a:rPr lang="en-US" i="1" dirty="0">
                <a:latin typeface="Arial"/>
                <a:cs typeface="Arial"/>
              </a:rPr>
              <a:t>many parameterized </a:t>
            </a:r>
            <a:r>
              <a:rPr lang="en-US" dirty="0">
                <a:latin typeface="Arial"/>
                <a:cs typeface="Arial"/>
              </a:rPr>
              <a:t>gates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Arial"/>
                <a:cs typeface="Arial"/>
              </a:rPr>
              <a:t>Optimization objective is to </a:t>
            </a:r>
            <a:r>
              <a:rPr lang="en-US" i="1" dirty="0">
                <a:latin typeface="Arial"/>
                <a:cs typeface="Arial"/>
              </a:rPr>
              <a:t>minimize multi-</a:t>
            </a:r>
            <a:r>
              <a:rPr lang="en-US" i="1" dirty="0" err="1">
                <a:latin typeface="Arial"/>
                <a:cs typeface="Arial"/>
              </a:rPr>
              <a:t>qudit</a:t>
            </a:r>
            <a:r>
              <a:rPr lang="en-US" i="1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gates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Arial"/>
                <a:cs typeface="Arial"/>
              </a:rPr>
              <a:t>What needs to change when considering fault-tolerant quantum computing?</a:t>
            </a:r>
          </a:p>
        </p:txBody>
      </p:sp>
      <p:pic>
        <p:nvPicPr>
          <p:cNvPr id="10" name="Picture 9" descr="A blue and orange oval with black lines and dots&#10;&#10;AI-generated content may be incorrect.">
            <a:extLst>
              <a:ext uri="{FF2B5EF4-FFF2-40B4-BE49-F238E27FC236}">
                <a16:creationId xmlns:a16="http://schemas.microsoft.com/office/drawing/2014/main" id="{59DD2CF6-4DD2-AA38-3B2D-F2F3CE2770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316" y="3623459"/>
            <a:ext cx="1579987" cy="1673662"/>
          </a:xfrm>
          <a:prstGeom prst="rect">
            <a:avLst/>
          </a:prstGeom>
        </p:spPr>
      </p:pic>
      <p:pic>
        <p:nvPicPr>
          <p:cNvPr id="16" name="Picture 15" descr="A colorful triangle with black lines&#10;&#10;AI-generated content may be incorrect.">
            <a:extLst>
              <a:ext uri="{FF2B5EF4-FFF2-40B4-BE49-F238E27FC236}">
                <a16:creationId xmlns:a16="http://schemas.microsoft.com/office/drawing/2014/main" id="{D1BEC0F6-1006-17D2-DCD7-595D986071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767" y="4295572"/>
            <a:ext cx="2554813" cy="1401026"/>
          </a:xfrm>
          <a:prstGeom prst="rect">
            <a:avLst/>
          </a:prstGeom>
        </p:spPr>
      </p:pic>
      <p:pic>
        <p:nvPicPr>
          <p:cNvPr id="18" name="Picture 17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31C5DA6D-6C70-7213-FDAF-E7F626656B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0191" y="3623459"/>
            <a:ext cx="4859769" cy="204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27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9A2A6-D8ED-E177-0BE3-72184F4A7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A16B8-444E-B0C9-DFE3-411B5AE90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BQSKit</a:t>
            </a:r>
            <a:r>
              <a:rPr lang="en-US" dirty="0"/>
              <a:t>-FT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A375B-1D00-FAC5-A5FC-38BE19CE8C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55DC88D-A208-2858-22D0-56ED9EC56C40}"/>
              </a:ext>
            </a:extLst>
          </p:cNvPr>
          <p:cNvSpPr txBox="1">
            <a:spLocks/>
          </p:cNvSpPr>
          <p:nvPr/>
        </p:nvSpPr>
        <p:spPr>
          <a:xfrm>
            <a:off x="515961" y="1847850"/>
            <a:ext cx="11160078" cy="45084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Arial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388" indent="-227013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25425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227013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dirty="0">
                <a:latin typeface="Arial"/>
                <a:cs typeface="Arial"/>
              </a:rPr>
              <a:t>What needs to change when considering fault-tolerant quantum computing?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Arial"/>
                <a:cs typeface="Arial"/>
              </a:rPr>
              <a:t>Goal: let users target fault-tolerant quantum computers as simply as possible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D17C03-D506-31E3-3587-B701CE2364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3285064"/>
            <a:ext cx="7772400" cy="174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83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46532-8905-A0EE-B040-5C7DB7BBF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8008A-61AD-1985-E013-EEA12C0A4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Fault-tolerant gate sets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D872CA-DF05-F058-D315-19D184470D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B77C8C-0A7A-2860-9F40-525AE779FBB7}"/>
              </a:ext>
            </a:extLst>
          </p:cNvPr>
          <p:cNvSpPr txBox="1">
            <a:spLocks/>
          </p:cNvSpPr>
          <p:nvPr/>
        </p:nvSpPr>
        <p:spPr>
          <a:xfrm>
            <a:off x="514471" y="1440735"/>
            <a:ext cx="11160078" cy="45084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Arial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388" indent="-227013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25425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227013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Arial"/>
                <a:cs typeface="Arial"/>
              </a:rPr>
              <a:t>For many codes of interest (e.g. many CSS codes like surface and color) Clifford gates are </a:t>
            </a:r>
            <a:r>
              <a:rPr lang="en-US" sz="2400" i="1" dirty="0">
                <a:latin typeface="Arial"/>
                <a:cs typeface="Arial"/>
              </a:rPr>
              <a:t>easy</a:t>
            </a:r>
            <a:r>
              <a:rPr lang="en-US" sz="2400" dirty="0">
                <a:latin typeface="Arial"/>
                <a:cs typeface="Arial"/>
              </a:rPr>
              <a:t> to implement</a:t>
            </a:r>
          </a:p>
          <a:p>
            <a:pPr lvl="1">
              <a:lnSpc>
                <a:spcPct val="100000"/>
              </a:lnSpc>
            </a:pPr>
            <a:r>
              <a:rPr lang="en-US" dirty="0" err="1">
                <a:latin typeface="Arial"/>
                <a:cs typeface="Arial"/>
              </a:rPr>
              <a:t>Transveral</a:t>
            </a:r>
            <a:r>
              <a:rPr lang="en-US" dirty="0">
                <a:latin typeface="Arial"/>
                <a:cs typeface="Arial"/>
              </a:rPr>
              <a:t>, fold transversal, flip </a:t>
            </a:r>
            <a:r>
              <a:rPr lang="en-US" dirty="0" err="1">
                <a:latin typeface="Arial"/>
                <a:cs typeface="Arial"/>
              </a:rPr>
              <a:t>transveral</a:t>
            </a:r>
            <a:r>
              <a:rPr lang="en-US" dirty="0">
                <a:latin typeface="Arial"/>
                <a:cs typeface="Arial"/>
              </a:rPr>
              <a:t>, etc.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Arial"/>
                <a:cs typeface="Arial"/>
              </a:rPr>
              <a:t>Cliffords are important, but </a:t>
            </a:r>
            <a:r>
              <a:rPr lang="en-US" sz="2400" i="1" dirty="0">
                <a:latin typeface="Arial"/>
                <a:cs typeface="Arial"/>
              </a:rPr>
              <a:t>insufficient</a:t>
            </a:r>
            <a:r>
              <a:rPr lang="en-US" sz="2400" dirty="0">
                <a:latin typeface="Arial"/>
                <a:cs typeface="Arial"/>
              </a:rPr>
              <a:t> for universality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Arial"/>
                <a:cs typeface="Arial"/>
              </a:rPr>
              <a:t>Eastin-Knill theorem: transversal (easy) gate sets are not universal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Arial"/>
                <a:cs typeface="Arial"/>
              </a:rPr>
              <a:t>Gottesman-Knill theorem: Clifford circuits are classically simulable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Arial"/>
                <a:cs typeface="Arial"/>
              </a:rPr>
              <a:t>A single non-Clifford gate is sufficient for universality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Arial"/>
                <a:cs typeface="Arial"/>
              </a:rPr>
              <a:t>Solovay-Kitaev theorem: approximation with FT gate sets can be done </a:t>
            </a:r>
            <a:r>
              <a:rPr lang="en-US" i="1" dirty="0">
                <a:latin typeface="Arial"/>
                <a:cs typeface="Arial"/>
              </a:rPr>
              <a:t>efficiently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BD897E-13C8-DEA7-0998-E828AAABDD32}"/>
              </a:ext>
            </a:extLst>
          </p:cNvPr>
          <p:cNvGrpSpPr/>
          <p:nvPr/>
        </p:nvGrpSpPr>
        <p:grpSpPr>
          <a:xfrm>
            <a:off x="2946444" y="4830329"/>
            <a:ext cx="2627134" cy="1708582"/>
            <a:chOff x="1049457" y="4819411"/>
            <a:chExt cx="2627134" cy="1708582"/>
          </a:xfrm>
        </p:grpSpPr>
        <p:pic>
          <p:nvPicPr>
            <p:cNvPr id="4" name="Picture 3" descr="A group of colorful shapes&#10;&#10;AI-generated content may be incorrect.">
              <a:extLst>
                <a:ext uri="{FF2B5EF4-FFF2-40B4-BE49-F238E27FC236}">
                  <a16:creationId xmlns:a16="http://schemas.microsoft.com/office/drawing/2014/main" id="{9B376AB2-47E9-CCBC-71E7-BA712BB97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442"/>
            <a:stretch>
              <a:fillRect/>
            </a:stretch>
          </p:blipFill>
          <p:spPr>
            <a:xfrm>
              <a:off x="1049457" y="4819411"/>
              <a:ext cx="2627134" cy="139914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3E2CF18-E6E9-A88B-B6AF-AA404FBFC116}"/>
                </a:ext>
              </a:extLst>
            </p:cNvPr>
            <p:cNvSpPr txBox="1"/>
            <p:nvPr/>
          </p:nvSpPr>
          <p:spPr>
            <a:xfrm>
              <a:off x="1564395" y="6158661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Color codes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3A633EF-1729-8FD4-6E44-4C5D3E3BCB9F}"/>
              </a:ext>
            </a:extLst>
          </p:cNvPr>
          <p:cNvGrpSpPr/>
          <p:nvPr/>
        </p:nvGrpSpPr>
        <p:grpSpPr>
          <a:xfrm>
            <a:off x="6950402" y="4708719"/>
            <a:ext cx="1659430" cy="1830192"/>
            <a:chOff x="4218220" y="4697801"/>
            <a:chExt cx="1659430" cy="1830192"/>
          </a:xfrm>
        </p:grpSpPr>
        <p:pic>
          <p:nvPicPr>
            <p:cNvPr id="7" name="Picture 6" descr="A close-up of a grid&#10;&#10;AI-generated content may be incorrect.">
              <a:extLst>
                <a:ext uri="{FF2B5EF4-FFF2-40B4-BE49-F238E27FC236}">
                  <a16:creationId xmlns:a16="http://schemas.microsoft.com/office/drawing/2014/main" id="{F4A62162-75ED-BF24-57D2-8457D781D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1833"/>
            <a:stretch>
              <a:fillRect/>
            </a:stretch>
          </p:blipFill>
          <p:spPr>
            <a:xfrm>
              <a:off x="4298145" y="4697801"/>
              <a:ext cx="1499580" cy="1531769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9F3BC61-9BE9-699B-2751-549DA68E323B}"/>
                </a:ext>
              </a:extLst>
            </p:cNvPr>
            <p:cNvSpPr txBox="1"/>
            <p:nvPr/>
          </p:nvSpPr>
          <p:spPr>
            <a:xfrm>
              <a:off x="4218220" y="6158661"/>
              <a:ext cx="16594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Surface codes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8962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5C256-5E7B-14DE-E450-5CFAE4F50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9775FC0-CE19-FF66-A903-D280EC1B243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Fault-tolerant gate sets: Clifford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9775FC0-CE19-FF66-A903-D280EC1B24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81E5D5-403D-20AD-C63D-E208FF935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481B67-BF8E-9F04-5DAA-42861FBDC14A}"/>
                  </a:ext>
                </a:extLst>
              </p:cNvPr>
              <p:cNvSpPr txBox="1"/>
              <p:nvPr/>
            </p:nvSpPr>
            <p:spPr>
              <a:xfrm>
                <a:off x="4194423" y="1392041"/>
                <a:ext cx="3789802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5400" dirty="0"/>
                  <a:t>Clifford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5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5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D481B67-BF8E-9F04-5DAA-42861FBDC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4423" y="1392041"/>
                <a:ext cx="3789802" cy="923330"/>
              </a:xfrm>
              <a:prstGeom prst="rect">
                <a:avLst/>
              </a:prstGeom>
              <a:blipFill>
                <a:blip r:embed="rId4"/>
                <a:stretch>
                  <a:fillRect l="-2341" t="-17568" b="-37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559B238-73CE-640B-736C-755C08FF6682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2659482" y="1829760"/>
            <a:ext cx="1737918" cy="2509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BE5F61-6206-2568-46BE-C8096A1DBE58}"/>
              </a:ext>
            </a:extLst>
          </p:cNvPr>
          <p:cNvCxnSpPr>
            <a:cxnSpLocks/>
          </p:cNvCxnSpPr>
          <p:nvPr/>
        </p:nvCxnSpPr>
        <p:spPr>
          <a:xfrm flipV="1">
            <a:off x="3186441" y="2233776"/>
            <a:ext cx="1851841" cy="17692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AA6B53E-24AE-EC4E-A9E3-046420D14722}"/>
              </a:ext>
            </a:extLst>
          </p:cNvPr>
          <p:cNvCxnSpPr>
            <a:cxnSpLocks/>
            <a:stCxn id="28" idx="0"/>
          </p:cNvCxnSpPr>
          <p:nvPr/>
        </p:nvCxnSpPr>
        <p:spPr>
          <a:xfrm flipH="1" flipV="1">
            <a:off x="5989095" y="2143896"/>
            <a:ext cx="17709" cy="84975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FE2750F-EF58-3BB4-D884-B84BB3D5F583}"/>
              </a:ext>
            </a:extLst>
          </p:cNvPr>
          <p:cNvCxnSpPr>
            <a:cxnSpLocks/>
          </p:cNvCxnSpPr>
          <p:nvPr/>
        </p:nvCxnSpPr>
        <p:spPr>
          <a:xfrm flipH="1" flipV="1">
            <a:off x="7692382" y="1954424"/>
            <a:ext cx="785147" cy="505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9C1FF26-15CB-58D8-8075-89E1374F09EA}"/>
              </a:ext>
            </a:extLst>
          </p:cNvPr>
          <p:cNvSpPr txBox="1"/>
          <p:nvPr/>
        </p:nvSpPr>
        <p:spPr>
          <a:xfrm>
            <a:off x="1602781" y="1849882"/>
            <a:ext cx="10567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CNOT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0A24AD-DEAC-E98A-E2D6-BA4583D1079F}"/>
              </a:ext>
            </a:extLst>
          </p:cNvPr>
          <p:cNvSpPr txBox="1"/>
          <p:nvPr/>
        </p:nvSpPr>
        <p:spPr>
          <a:xfrm>
            <a:off x="2778958" y="4002978"/>
            <a:ext cx="407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F9385E-CBA3-AE3D-6DDA-2F2F2AAE9A53}"/>
              </a:ext>
            </a:extLst>
          </p:cNvPr>
          <p:cNvSpPr txBox="1"/>
          <p:nvPr/>
        </p:nvSpPr>
        <p:spPr>
          <a:xfrm>
            <a:off x="5811878" y="2993655"/>
            <a:ext cx="389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81805AE-0958-CEF9-178F-441F27DCFD92}"/>
                  </a:ext>
                </a:extLst>
              </p:cNvPr>
              <p:cNvSpPr txBox="1"/>
              <p:nvPr/>
            </p:nvSpPr>
            <p:spPr>
              <a:xfrm>
                <a:off x="8698292" y="1939617"/>
                <a:ext cx="1441870" cy="6252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/4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D81805AE-0958-CEF9-178F-441F27DCF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8292" y="1939617"/>
                <a:ext cx="1441870" cy="625236"/>
              </a:xfrm>
              <a:prstGeom prst="rect">
                <a:avLst/>
              </a:prstGeom>
              <a:blipFill>
                <a:blip r:embed="rId5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984DD5B2-FCB0-779F-5FD6-8ED88D7AC88D}"/>
              </a:ext>
            </a:extLst>
          </p:cNvPr>
          <p:cNvSpPr txBox="1"/>
          <p:nvPr/>
        </p:nvSpPr>
        <p:spPr>
          <a:xfrm>
            <a:off x="2427984" y="6178206"/>
            <a:ext cx="83070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Ultimately we want circuits expressed with these gates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370EAFE-1930-55BF-4E7A-E159C7E38DF0}"/>
              </a:ext>
            </a:extLst>
          </p:cNvPr>
          <p:cNvGrpSpPr/>
          <p:nvPr/>
        </p:nvGrpSpPr>
        <p:grpSpPr>
          <a:xfrm>
            <a:off x="1727960" y="4593317"/>
            <a:ext cx="2232503" cy="1372854"/>
            <a:chOff x="535549" y="3935159"/>
            <a:chExt cx="2232503" cy="1372854"/>
          </a:xfrm>
        </p:grpSpPr>
        <p:pic>
          <p:nvPicPr>
            <p:cNvPr id="46" name="Picture 45" descr="A diagram of a molecule&#10;&#10;AI-generated content may be incorrect.">
              <a:extLst>
                <a:ext uri="{FF2B5EF4-FFF2-40B4-BE49-F238E27FC236}">
                  <a16:creationId xmlns:a16="http://schemas.microsoft.com/office/drawing/2014/main" id="{E980E8B4-55D4-5BB1-745D-609F0FE78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5549" y="3935159"/>
              <a:ext cx="2232503" cy="1076181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9AC7C88-6F5B-A739-60BB-03D72B369141}"/>
                </a:ext>
              </a:extLst>
            </p:cNvPr>
            <p:cNvSpPr txBox="1"/>
            <p:nvPr/>
          </p:nvSpPr>
          <p:spPr>
            <a:xfrm>
              <a:off x="684227" y="4938681"/>
              <a:ext cx="19351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arxiv</a:t>
              </a:r>
              <a:r>
                <a:rPr lang="en-US" dirty="0"/>
                <a:t>: 2412.01391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C198FE2-4E3B-3F92-D554-66B7F03CC136}"/>
              </a:ext>
            </a:extLst>
          </p:cNvPr>
          <p:cNvGrpSpPr/>
          <p:nvPr/>
        </p:nvGrpSpPr>
        <p:grpSpPr>
          <a:xfrm>
            <a:off x="405905" y="2310815"/>
            <a:ext cx="2161652" cy="1529562"/>
            <a:chOff x="3184951" y="3760314"/>
            <a:chExt cx="2161652" cy="1529562"/>
          </a:xfrm>
        </p:grpSpPr>
        <p:pic>
          <p:nvPicPr>
            <p:cNvPr id="48" name="Picture 47" descr="A diagram of a graphing of a graphing model&#10;&#10;AI-generated content may be incorrect.">
              <a:extLst>
                <a:ext uri="{FF2B5EF4-FFF2-40B4-BE49-F238E27FC236}">
                  <a16:creationId xmlns:a16="http://schemas.microsoft.com/office/drawing/2014/main" id="{1CC2A005-4EF5-3D6E-DFC9-FC51A1226F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4951" y="3760314"/>
              <a:ext cx="2161652" cy="1274706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95E7058D-BF82-7B1C-D87C-D20B741107FA}"/>
                </a:ext>
              </a:extLst>
            </p:cNvPr>
            <p:cNvSpPr txBox="1"/>
            <p:nvPr/>
          </p:nvSpPr>
          <p:spPr>
            <a:xfrm>
              <a:off x="3184951" y="4920544"/>
              <a:ext cx="19351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arxiv</a:t>
              </a:r>
              <a:r>
                <a:rPr lang="en-US" dirty="0"/>
                <a:t>: 2403.03272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E5C14EA-7EA5-98F1-495C-7C7B34E1965D}"/>
              </a:ext>
            </a:extLst>
          </p:cNvPr>
          <p:cNvGrpSpPr/>
          <p:nvPr/>
        </p:nvGrpSpPr>
        <p:grpSpPr>
          <a:xfrm>
            <a:off x="5039232" y="3496921"/>
            <a:ext cx="2169111" cy="1935444"/>
            <a:chOff x="5035726" y="2771335"/>
            <a:chExt cx="2169111" cy="1935444"/>
          </a:xfrm>
        </p:grpSpPr>
        <p:pic>
          <p:nvPicPr>
            <p:cNvPr id="53" name="Picture 52" descr="A diagram of a state&#10;&#10;AI-generated content may be incorrect.">
              <a:extLst>
                <a:ext uri="{FF2B5EF4-FFF2-40B4-BE49-F238E27FC236}">
                  <a16:creationId xmlns:a16="http://schemas.microsoft.com/office/drawing/2014/main" id="{FE684246-8124-71DA-E7A4-FC3995AB91C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2841"/>
            <a:stretch>
              <a:fillRect/>
            </a:stretch>
          </p:blipFill>
          <p:spPr>
            <a:xfrm>
              <a:off x="5280400" y="2771335"/>
              <a:ext cx="1924437" cy="1643653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2F8EDDF-7480-8407-5F93-2D5AFDAF13FC}"/>
                </a:ext>
              </a:extLst>
            </p:cNvPr>
            <p:cNvSpPr txBox="1"/>
            <p:nvPr/>
          </p:nvSpPr>
          <p:spPr>
            <a:xfrm>
              <a:off x="5035726" y="4337447"/>
              <a:ext cx="19351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arxiv</a:t>
              </a:r>
              <a:r>
                <a:rPr lang="en-US" dirty="0"/>
                <a:t>: 2412.01391</a:t>
              </a:r>
            </a:p>
          </p:txBody>
        </p:sp>
      </p:grpSp>
      <p:pic>
        <p:nvPicPr>
          <p:cNvPr id="56" name="Picture 55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C823F16F-90D2-12E7-8282-72453081F22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4522" y="2972273"/>
            <a:ext cx="3295191" cy="1385828"/>
          </a:xfrm>
          <a:prstGeom prst="rect">
            <a:avLst/>
          </a:prstGeom>
        </p:spPr>
      </p:pic>
      <p:sp>
        <p:nvSpPr>
          <p:cNvPr id="57" name="Freeform 56">
            <a:extLst>
              <a:ext uri="{FF2B5EF4-FFF2-40B4-BE49-F238E27FC236}">
                <a16:creationId xmlns:a16="http://schemas.microsoft.com/office/drawing/2014/main" id="{8AC1CD7F-68A3-4D24-1458-F99679CC0C11}"/>
              </a:ext>
            </a:extLst>
          </p:cNvPr>
          <p:cNvSpPr/>
          <p:nvPr/>
        </p:nvSpPr>
        <p:spPr>
          <a:xfrm>
            <a:off x="7011993" y="2291592"/>
            <a:ext cx="928688" cy="3714750"/>
          </a:xfrm>
          <a:custGeom>
            <a:avLst/>
            <a:gdLst>
              <a:gd name="connsiteX0" fmla="*/ 0 w 928688"/>
              <a:gd name="connsiteY0" fmla="*/ 0 h 3714750"/>
              <a:gd name="connsiteX1" fmla="*/ 14288 w 928688"/>
              <a:gd name="connsiteY1" fmla="*/ 300038 h 3714750"/>
              <a:gd name="connsiteX2" fmla="*/ 42863 w 928688"/>
              <a:gd name="connsiteY2" fmla="*/ 414338 h 3714750"/>
              <a:gd name="connsiteX3" fmla="*/ 85725 w 928688"/>
              <a:gd name="connsiteY3" fmla="*/ 557213 h 3714750"/>
              <a:gd name="connsiteX4" fmla="*/ 100013 w 928688"/>
              <a:gd name="connsiteY4" fmla="*/ 600075 h 3714750"/>
              <a:gd name="connsiteX5" fmla="*/ 128588 w 928688"/>
              <a:gd name="connsiteY5" fmla="*/ 642938 h 3714750"/>
              <a:gd name="connsiteX6" fmla="*/ 142875 w 928688"/>
              <a:gd name="connsiteY6" fmla="*/ 685800 h 3714750"/>
              <a:gd name="connsiteX7" fmla="*/ 200025 w 928688"/>
              <a:gd name="connsiteY7" fmla="*/ 771525 h 3714750"/>
              <a:gd name="connsiteX8" fmla="*/ 228600 w 928688"/>
              <a:gd name="connsiteY8" fmla="*/ 814388 h 3714750"/>
              <a:gd name="connsiteX9" fmla="*/ 257175 w 928688"/>
              <a:gd name="connsiteY9" fmla="*/ 857250 h 3714750"/>
              <a:gd name="connsiteX10" fmla="*/ 271463 w 928688"/>
              <a:gd name="connsiteY10" fmla="*/ 900113 h 3714750"/>
              <a:gd name="connsiteX11" fmla="*/ 357188 w 928688"/>
              <a:gd name="connsiteY11" fmla="*/ 985838 h 3714750"/>
              <a:gd name="connsiteX12" fmla="*/ 414338 w 928688"/>
              <a:gd name="connsiteY12" fmla="*/ 1071563 h 3714750"/>
              <a:gd name="connsiteX13" fmla="*/ 442913 w 928688"/>
              <a:gd name="connsiteY13" fmla="*/ 1114425 h 3714750"/>
              <a:gd name="connsiteX14" fmla="*/ 485775 w 928688"/>
              <a:gd name="connsiteY14" fmla="*/ 1157288 h 3714750"/>
              <a:gd name="connsiteX15" fmla="*/ 542925 w 928688"/>
              <a:gd name="connsiteY15" fmla="*/ 1243013 h 3714750"/>
              <a:gd name="connsiteX16" fmla="*/ 628650 w 928688"/>
              <a:gd name="connsiteY16" fmla="*/ 1371600 h 3714750"/>
              <a:gd name="connsiteX17" fmla="*/ 657225 w 928688"/>
              <a:gd name="connsiteY17" fmla="*/ 1414463 h 3714750"/>
              <a:gd name="connsiteX18" fmla="*/ 685800 w 928688"/>
              <a:gd name="connsiteY18" fmla="*/ 1457325 h 3714750"/>
              <a:gd name="connsiteX19" fmla="*/ 714375 w 928688"/>
              <a:gd name="connsiteY19" fmla="*/ 1543050 h 3714750"/>
              <a:gd name="connsiteX20" fmla="*/ 728663 w 928688"/>
              <a:gd name="connsiteY20" fmla="*/ 1585913 h 3714750"/>
              <a:gd name="connsiteX21" fmla="*/ 757238 w 928688"/>
              <a:gd name="connsiteY21" fmla="*/ 1628775 h 3714750"/>
              <a:gd name="connsiteX22" fmla="*/ 828675 w 928688"/>
              <a:gd name="connsiteY22" fmla="*/ 1843088 h 3714750"/>
              <a:gd name="connsiteX23" fmla="*/ 857250 w 928688"/>
              <a:gd name="connsiteY23" fmla="*/ 1928813 h 3714750"/>
              <a:gd name="connsiteX24" fmla="*/ 885825 w 928688"/>
              <a:gd name="connsiteY24" fmla="*/ 2043113 h 3714750"/>
              <a:gd name="connsiteX25" fmla="*/ 900113 w 928688"/>
              <a:gd name="connsiteY25" fmla="*/ 2100263 h 3714750"/>
              <a:gd name="connsiteX26" fmla="*/ 928688 w 928688"/>
              <a:gd name="connsiteY26" fmla="*/ 2257425 h 3714750"/>
              <a:gd name="connsiteX27" fmla="*/ 914400 w 928688"/>
              <a:gd name="connsiteY27" fmla="*/ 2943225 h 3714750"/>
              <a:gd name="connsiteX28" fmla="*/ 885825 w 928688"/>
              <a:gd name="connsiteY28" fmla="*/ 3071813 h 3714750"/>
              <a:gd name="connsiteX29" fmla="*/ 871538 w 928688"/>
              <a:gd name="connsiteY29" fmla="*/ 3114675 h 3714750"/>
              <a:gd name="connsiteX30" fmla="*/ 857250 w 928688"/>
              <a:gd name="connsiteY30" fmla="*/ 3186113 h 3714750"/>
              <a:gd name="connsiteX31" fmla="*/ 842963 w 928688"/>
              <a:gd name="connsiteY31" fmla="*/ 3228975 h 3714750"/>
              <a:gd name="connsiteX32" fmla="*/ 828675 w 928688"/>
              <a:gd name="connsiteY32" fmla="*/ 3286125 h 3714750"/>
              <a:gd name="connsiteX33" fmla="*/ 814388 w 928688"/>
              <a:gd name="connsiteY33" fmla="*/ 3328988 h 3714750"/>
              <a:gd name="connsiteX34" fmla="*/ 800100 w 928688"/>
              <a:gd name="connsiteY34" fmla="*/ 3386138 h 3714750"/>
              <a:gd name="connsiteX35" fmla="*/ 771525 w 928688"/>
              <a:gd name="connsiteY35" fmla="*/ 3471863 h 3714750"/>
              <a:gd name="connsiteX36" fmla="*/ 742950 w 928688"/>
              <a:gd name="connsiteY36" fmla="*/ 3514725 h 3714750"/>
              <a:gd name="connsiteX37" fmla="*/ 685800 w 928688"/>
              <a:gd name="connsiteY37" fmla="*/ 3643313 h 3714750"/>
              <a:gd name="connsiteX38" fmla="*/ 642938 w 928688"/>
              <a:gd name="connsiteY38" fmla="*/ 3714750 h 3714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928688" h="3714750">
                <a:moveTo>
                  <a:pt x="0" y="0"/>
                </a:moveTo>
                <a:cubicBezTo>
                  <a:pt x="4763" y="100013"/>
                  <a:pt x="3985" y="200443"/>
                  <a:pt x="14288" y="300038"/>
                </a:cubicBezTo>
                <a:cubicBezTo>
                  <a:pt x="18329" y="339102"/>
                  <a:pt x="33338" y="376238"/>
                  <a:pt x="42863" y="414338"/>
                </a:cubicBezTo>
                <a:cubicBezTo>
                  <a:pt x="64456" y="500711"/>
                  <a:pt x="50939" y="452857"/>
                  <a:pt x="85725" y="557213"/>
                </a:cubicBezTo>
                <a:cubicBezTo>
                  <a:pt x="90488" y="571500"/>
                  <a:pt x="91659" y="587544"/>
                  <a:pt x="100013" y="600075"/>
                </a:cubicBezTo>
                <a:lnTo>
                  <a:pt x="128588" y="642938"/>
                </a:lnTo>
                <a:cubicBezTo>
                  <a:pt x="133350" y="657225"/>
                  <a:pt x="135561" y="672635"/>
                  <a:pt x="142875" y="685800"/>
                </a:cubicBezTo>
                <a:cubicBezTo>
                  <a:pt x="159553" y="715821"/>
                  <a:pt x="180975" y="742950"/>
                  <a:pt x="200025" y="771525"/>
                </a:cubicBezTo>
                <a:lnTo>
                  <a:pt x="228600" y="814388"/>
                </a:lnTo>
                <a:cubicBezTo>
                  <a:pt x="238125" y="828675"/>
                  <a:pt x="251745" y="840960"/>
                  <a:pt x="257175" y="857250"/>
                </a:cubicBezTo>
                <a:cubicBezTo>
                  <a:pt x="261938" y="871538"/>
                  <a:pt x="262217" y="888225"/>
                  <a:pt x="271463" y="900113"/>
                </a:cubicBezTo>
                <a:cubicBezTo>
                  <a:pt x="296273" y="932012"/>
                  <a:pt x="334772" y="952214"/>
                  <a:pt x="357188" y="985838"/>
                </a:cubicBezTo>
                <a:lnTo>
                  <a:pt x="414338" y="1071563"/>
                </a:lnTo>
                <a:cubicBezTo>
                  <a:pt x="423863" y="1085850"/>
                  <a:pt x="430771" y="1102283"/>
                  <a:pt x="442913" y="1114425"/>
                </a:cubicBezTo>
                <a:cubicBezTo>
                  <a:pt x="457200" y="1128713"/>
                  <a:pt x="473370" y="1141339"/>
                  <a:pt x="485775" y="1157288"/>
                </a:cubicBezTo>
                <a:cubicBezTo>
                  <a:pt x="506859" y="1184397"/>
                  <a:pt x="523875" y="1214438"/>
                  <a:pt x="542925" y="1243013"/>
                </a:cubicBezTo>
                <a:lnTo>
                  <a:pt x="628650" y="1371600"/>
                </a:lnTo>
                <a:lnTo>
                  <a:pt x="657225" y="1414463"/>
                </a:lnTo>
                <a:cubicBezTo>
                  <a:pt x="666750" y="1428750"/>
                  <a:pt x="680370" y="1441035"/>
                  <a:pt x="685800" y="1457325"/>
                </a:cubicBezTo>
                <a:lnTo>
                  <a:pt x="714375" y="1543050"/>
                </a:lnTo>
                <a:cubicBezTo>
                  <a:pt x="719138" y="1557338"/>
                  <a:pt x="720309" y="1573382"/>
                  <a:pt x="728663" y="1585913"/>
                </a:cubicBezTo>
                <a:lnTo>
                  <a:pt x="757238" y="1628775"/>
                </a:lnTo>
                <a:lnTo>
                  <a:pt x="828675" y="1843088"/>
                </a:lnTo>
                <a:lnTo>
                  <a:pt x="857250" y="1928813"/>
                </a:lnTo>
                <a:lnTo>
                  <a:pt x="885825" y="2043113"/>
                </a:lnTo>
                <a:cubicBezTo>
                  <a:pt x="890588" y="2062163"/>
                  <a:pt x="896262" y="2081008"/>
                  <a:pt x="900113" y="2100263"/>
                </a:cubicBezTo>
                <a:cubicBezTo>
                  <a:pt x="920081" y="2200107"/>
                  <a:pt x="910408" y="2147747"/>
                  <a:pt x="928688" y="2257425"/>
                </a:cubicBezTo>
                <a:cubicBezTo>
                  <a:pt x="923925" y="2486025"/>
                  <a:pt x="923022" y="2714738"/>
                  <a:pt x="914400" y="2943225"/>
                </a:cubicBezTo>
                <a:cubicBezTo>
                  <a:pt x="913759" y="2960204"/>
                  <a:pt x="891855" y="3050709"/>
                  <a:pt x="885825" y="3071813"/>
                </a:cubicBezTo>
                <a:cubicBezTo>
                  <a:pt x="881688" y="3086294"/>
                  <a:pt x="875191" y="3100065"/>
                  <a:pt x="871538" y="3114675"/>
                </a:cubicBezTo>
                <a:cubicBezTo>
                  <a:pt x="865648" y="3138234"/>
                  <a:pt x="863140" y="3162554"/>
                  <a:pt x="857250" y="3186113"/>
                </a:cubicBezTo>
                <a:cubicBezTo>
                  <a:pt x="853597" y="3200723"/>
                  <a:pt x="847100" y="3214494"/>
                  <a:pt x="842963" y="3228975"/>
                </a:cubicBezTo>
                <a:cubicBezTo>
                  <a:pt x="837568" y="3247856"/>
                  <a:pt x="834069" y="3267244"/>
                  <a:pt x="828675" y="3286125"/>
                </a:cubicBezTo>
                <a:cubicBezTo>
                  <a:pt x="824538" y="3300606"/>
                  <a:pt x="818525" y="3314507"/>
                  <a:pt x="814388" y="3328988"/>
                </a:cubicBezTo>
                <a:cubicBezTo>
                  <a:pt x="808994" y="3347869"/>
                  <a:pt x="805743" y="3367330"/>
                  <a:pt x="800100" y="3386138"/>
                </a:cubicBezTo>
                <a:cubicBezTo>
                  <a:pt x="791445" y="3414988"/>
                  <a:pt x="788233" y="3446801"/>
                  <a:pt x="771525" y="3471863"/>
                </a:cubicBezTo>
                <a:lnTo>
                  <a:pt x="742950" y="3514725"/>
                </a:lnTo>
                <a:cubicBezTo>
                  <a:pt x="708945" y="3616740"/>
                  <a:pt x="731083" y="3575388"/>
                  <a:pt x="685800" y="3643313"/>
                </a:cubicBezTo>
                <a:cubicBezTo>
                  <a:pt x="667253" y="3698954"/>
                  <a:pt x="682162" y="3675526"/>
                  <a:pt x="642938" y="3714750"/>
                </a:cubicBezTo>
              </a:path>
            </a:pathLst>
          </a:custGeom>
          <a:noFill/>
          <a:ln w="571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108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1F9CA-71A9-DCA5-1966-FACCB4C1B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5374D-5003-DBBB-E8C2-8095FB877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Fault-tolerant gate sets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B70094-D158-B5E6-CF3A-AADE80A43B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6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D9B09C4-CA83-DFA9-876D-725292C96F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4471" y="1328001"/>
                <a:ext cx="11160078" cy="4508499"/>
              </a:xfrm>
              <a:prstGeom prst="rect">
                <a:avLst/>
              </a:prstGeom>
            </p:spPr>
            <p:txBody>
              <a:bodyPr vert="horz" lIns="91440" tIns="45720" rIns="91440" bIns="45720" rtlCol="0" anchor="t">
                <a:noAutofit/>
              </a:bodyPr>
              <a:lstStyle>
                <a:lvl1pPr marL="225425" indent="-225425" algn="l" defTabSz="457200" rtl="0" eaLnBrk="1" latinLnBrk="0" hangingPunct="1">
                  <a:lnSpc>
                    <a:spcPct val="110000"/>
                  </a:lnSpc>
                  <a:spcBef>
                    <a:spcPts val="800"/>
                  </a:spcBef>
                  <a:buClr>
                    <a:schemeClr val="accent2"/>
                  </a:buClr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457200" rtl="0" eaLnBrk="1" latinLnBrk="0" hangingPunct="1">
                  <a:lnSpc>
                    <a:spcPct val="110000"/>
                  </a:lnSpc>
                  <a:spcBef>
                    <a:spcPts val="400"/>
                  </a:spcBef>
                  <a:buClr>
                    <a:schemeClr val="accent2"/>
                  </a:buClr>
                  <a:buFont typeface="Arial"/>
                  <a:buChar char="–"/>
                  <a:defRPr sz="20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7388" indent="-227013" algn="l" defTabSz="457200" rtl="0" eaLnBrk="1" latinLnBrk="0" hangingPunct="1">
                  <a:spcBef>
                    <a:spcPts val="400"/>
                  </a:spcBef>
                  <a:buClr>
                    <a:schemeClr val="accent2"/>
                  </a:buClr>
                  <a:buSzPct val="85000"/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2813" indent="-225425" algn="l" defTabSz="457200" rtl="0" eaLnBrk="1" latinLnBrk="0" hangingPunct="1">
                  <a:spcBef>
                    <a:spcPts val="400"/>
                  </a:spcBef>
                  <a:buClr>
                    <a:schemeClr val="accent2"/>
                  </a:buClr>
                  <a:buSzPct val="85000"/>
                  <a:buFont typeface="Arial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39825" indent="-227013" algn="l" defTabSz="4572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457200" rtl="0" eaLnBrk="1" latinLnBrk="0" hangingPunct="1">
                  <a:spcBef>
                    <a:spcPct val="20000"/>
                  </a:spcBef>
                  <a:buFont typeface="Arial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400"/>
                  </a:spcBef>
                </a:pPr>
                <a:r>
                  <a:rPr lang="en-US" sz="2400" dirty="0">
                    <a:latin typeface="Arial"/>
                    <a:cs typeface="Arial"/>
                  </a:rPr>
                  <a:t>BQSKit works with </a:t>
                </a:r>
                <a:r>
                  <a:rPr lang="en-US" sz="2400" i="1" dirty="0">
                    <a:latin typeface="Arial"/>
                    <a:cs typeface="Arial"/>
                  </a:rPr>
                  <a:t>parameterized</a:t>
                </a:r>
                <a:r>
                  <a:rPr lang="en-US" sz="2400" dirty="0">
                    <a:latin typeface="Arial"/>
                    <a:cs typeface="Arial"/>
                  </a:rPr>
                  <a:t> gates</a:t>
                </a:r>
              </a:p>
              <a:p>
                <a:pPr>
                  <a:lnSpc>
                    <a:spcPct val="100000"/>
                  </a:lnSpc>
                  <a:spcBef>
                    <a:spcPts val="400"/>
                  </a:spcBef>
                </a:pPr>
                <a:r>
                  <a:rPr lang="en-US" sz="2400" dirty="0">
                    <a:latin typeface="Arial"/>
                    <a:cs typeface="Arial"/>
                  </a:rPr>
                  <a:t>Fault-tolerant gate sets consist of </a:t>
                </a:r>
                <a:r>
                  <a:rPr lang="en-US" sz="2400" i="1" dirty="0">
                    <a:latin typeface="Arial"/>
                    <a:cs typeface="Arial"/>
                  </a:rPr>
                  <a:t>discrete</a:t>
                </a:r>
                <a:r>
                  <a:rPr lang="en-US" sz="2400" dirty="0">
                    <a:latin typeface="Arial"/>
                    <a:cs typeface="Arial"/>
                  </a:rPr>
                  <a:t> (non-parameterized) gates</a:t>
                </a:r>
              </a:p>
              <a:p>
                <a:pPr>
                  <a:lnSpc>
                    <a:spcPct val="100000"/>
                  </a:lnSpc>
                  <a:spcBef>
                    <a:spcPts val="400"/>
                  </a:spcBef>
                </a:pPr>
                <a:r>
                  <a:rPr lang="en-US" sz="2400" dirty="0">
                    <a:latin typeface="Arial"/>
                    <a:cs typeface="Arial"/>
                  </a:rPr>
                  <a:t>This gap can be closed with </a:t>
                </a:r>
                <a:r>
                  <a:rPr lang="en-US" sz="2400" i="1" dirty="0">
                    <a:latin typeface="Arial"/>
                    <a:cs typeface="Arial"/>
                  </a:rPr>
                  <a:t>single-qubit synthesis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400" dirty="0">
                    <a:latin typeface="Arial"/>
                    <a:cs typeface="Arial"/>
                  </a:rPr>
                  <a:t>Turns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/>
                          </a:rPr>
                          <m:t>𝑍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Arial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/>
                      </a:rPr>
                      <m:t>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/>
                      </a:rPr>
                      <m:t>)</m:t>
                    </m:r>
                  </m:oMath>
                </a14:m>
                <a:r>
                  <a:rPr lang="en-US" sz="2400" dirty="0">
                    <a:latin typeface="Arial"/>
                    <a:cs typeface="Arial"/>
                  </a:rPr>
                  <a:t> into a sequence of gates from the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cs typeface="Arial"/>
                      </a:rPr>
                      <m:t>{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/>
                      </a:rPr>
                      <m:t>𝐻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/>
                      </a:rPr>
                      <m:t>}</m:t>
                    </m:r>
                  </m:oMath>
                </a14:m>
                <a:endParaRPr lang="en-US" sz="2400" dirty="0">
                  <a:latin typeface="Arial"/>
                  <a:cs typeface="Arial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sz="2400" dirty="0">
                    <a:latin typeface="Arial"/>
                    <a:cs typeface="Arial"/>
                  </a:rPr>
                  <a:t>Approximation is necessary (</a:t>
                </a:r>
                <a:r>
                  <a:rPr lang="en-US" sz="2400" i="1" dirty="0">
                    <a:latin typeface="Arial"/>
                    <a:cs typeface="Arial"/>
                  </a:rPr>
                  <a:t>Solovay-Kitaev theorem</a:t>
                </a:r>
                <a:r>
                  <a:rPr lang="en-US" sz="2400" dirty="0">
                    <a:latin typeface="Arial"/>
                    <a:cs typeface="Arial"/>
                  </a:rPr>
                  <a:t> ensures it’s possible)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sz="2400" dirty="0">
                    <a:latin typeface="Arial"/>
                    <a:cs typeface="Arial"/>
                  </a:rPr>
                  <a:t>Optimal (ancilla free) decomposition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cs typeface="Arial"/>
                          </a:rPr>
                          <m:t>𝑍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cs typeface="Arial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/>
                      </a:rPr>
                      <m:t>𝜃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cs typeface="Arial"/>
                      </a:rPr>
                      <m:t>)</m:t>
                    </m:r>
                  </m:oMath>
                </a14:m>
                <a:r>
                  <a:rPr lang="en-US" sz="2400" dirty="0">
                    <a:latin typeface="Arial"/>
                    <a:cs typeface="Arial"/>
                  </a:rPr>
                  <a:t> gates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sz="2400" dirty="0">
                    <a:latin typeface="Arial"/>
                    <a:cs typeface="Arial"/>
                  </a:rPr>
                  <a:t>Uses </a:t>
                </a:r>
                <a:r>
                  <a:rPr lang="en-US" sz="2400" i="1" dirty="0" err="1">
                    <a:latin typeface="Arial"/>
                    <a:cs typeface="Arial"/>
                  </a:rPr>
                  <a:t>gridsynth</a:t>
                </a:r>
                <a:r>
                  <a:rPr lang="en-US" sz="2400" i="1" dirty="0">
                    <a:latin typeface="Arial"/>
                    <a:cs typeface="Arial"/>
                  </a:rPr>
                  <a:t> </a:t>
                </a:r>
                <a:r>
                  <a:rPr lang="en-US" sz="2400" dirty="0">
                    <a:latin typeface="Arial"/>
                    <a:cs typeface="Arial"/>
                  </a:rPr>
                  <a:t>algorithm</a:t>
                </a:r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D9B09C4-CA83-DFA9-876D-725292C96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471" y="1328001"/>
                <a:ext cx="11160078" cy="4508499"/>
              </a:xfrm>
              <a:prstGeom prst="rect">
                <a:avLst/>
              </a:prstGeom>
              <a:blipFill>
                <a:blip r:embed="rId3"/>
                <a:stretch>
                  <a:fillRect l="-682" t="-1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C688B29A-E1D5-F857-5B23-84DCE787DE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5486" y="4700589"/>
            <a:ext cx="6723622" cy="82941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4E9E77F-7FE9-440B-C09A-FCC95C785FED}"/>
                  </a:ext>
                </a:extLst>
              </p:cNvPr>
              <p:cNvSpPr txBox="1"/>
              <p:nvPr/>
            </p:nvSpPr>
            <p:spPr>
              <a:xfrm>
                <a:off x="5487385" y="4423497"/>
                <a:ext cx="245548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Assuming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4E9E77F-7FE9-440B-C09A-FCC95C785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7385" y="4423497"/>
                <a:ext cx="2455480" cy="400110"/>
              </a:xfrm>
              <a:prstGeom prst="rect">
                <a:avLst/>
              </a:prstGeom>
              <a:blipFill>
                <a:blip r:embed="rId5"/>
                <a:stretch>
                  <a:fillRect l="-2577" t="-6250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13A2433-0D5C-5409-14DD-3F1499B36A5E}"/>
                  </a:ext>
                </a:extLst>
              </p:cNvPr>
              <p:cNvSpPr txBox="1"/>
              <p:nvPr/>
            </p:nvSpPr>
            <p:spPr>
              <a:xfrm>
                <a:off x="8298605" y="5624030"/>
                <a:ext cx="2366417" cy="4848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T-count: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10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den>
                        </m:f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≈30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13A2433-0D5C-5409-14DD-3F1499B36A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8605" y="5624030"/>
                <a:ext cx="2366417" cy="484813"/>
              </a:xfrm>
              <a:prstGeom prst="rect">
                <a:avLst/>
              </a:prstGeom>
              <a:blipFill>
                <a:blip r:embed="rId6"/>
                <a:stretch>
                  <a:fillRect l="-2128" b="-7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F909E1F-27AC-0109-9FE4-2474618CE462}"/>
                  </a:ext>
                </a:extLst>
              </p:cNvPr>
              <p:cNvSpPr txBox="1"/>
              <p:nvPr/>
            </p:nvSpPr>
            <p:spPr>
              <a:xfrm>
                <a:off x="5980210" y="6037807"/>
                <a:ext cx="2263761" cy="4848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S-count: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5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den>
                        </m:f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F909E1F-27AC-0109-9FE4-2474618CE4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0210" y="6037807"/>
                <a:ext cx="2263761" cy="484813"/>
              </a:xfrm>
              <a:prstGeom prst="rect">
                <a:avLst/>
              </a:prstGeom>
              <a:blipFill>
                <a:blip r:embed="rId7"/>
                <a:stretch>
                  <a:fillRect l="-1676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F6B51D2-E7E3-5570-118E-261E53A0FE15}"/>
                  </a:ext>
                </a:extLst>
              </p:cNvPr>
              <p:cNvSpPr txBox="1"/>
              <p:nvPr/>
            </p:nvSpPr>
            <p:spPr>
              <a:xfrm>
                <a:off x="3559159" y="5703885"/>
                <a:ext cx="2404826" cy="48481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H-count: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10</m:t>
                    </m:r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den>
                        </m:f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≈30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F6B51D2-E7E3-5570-118E-261E53A0F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9159" y="5703885"/>
                <a:ext cx="2404826" cy="484813"/>
              </a:xfrm>
              <a:prstGeom prst="rect">
                <a:avLst/>
              </a:prstGeom>
              <a:blipFill>
                <a:blip r:embed="rId8"/>
                <a:stretch>
                  <a:fillRect l="-210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F087863-4230-AA83-140F-9009D9828ACB}"/>
              </a:ext>
            </a:extLst>
          </p:cNvPr>
          <p:cNvCxnSpPr/>
          <p:nvPr/>
        </p:nvCxnSpPr>
        <p:spPr>
          <a:xfrm flipV="1">
            <a:off x="4666786" y="5558709"/>
            <a:ext cx="189572" cy="173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03B7E7C-6AE6-D195-4B4F-37F4307094F2}"/>
              </a:ext>
            </a:extLst>
          </p:cNvPr>
          <p:cNvCxnSpPr/>
          <p:nvPr/>
        </p:nvCxnSpPr>
        <p:spPr>
          <a:xfrm flipH="1" flipV="1">
            <a:off x="5843588" y="5529999"/>
            <a:ext cx="871537" cy="507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1AEFFF1-27EE-B7EC-C092-E84FF7222BFE}"/>
              </a:ext>
            </a:extLst>
          </p:cNvPr>
          <p:cNvCxnSpPr/>
          <p:nvPr/>
        </p:nvCxnSpPr>
        <p:spPr>
          <a:xfrm flipH="1" flipV="1">
            <a:off x="8243971" y="5370305"/>
            <a:ext cx="655137" cy="333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538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4D186-443A-0435-1830-085EC0550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1B2C7-4F1E-FDD3-FD4D-897912E00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Fault-tolerant gate sets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71442B-F6FF-D3BE-9DFC-2745356A9E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897217D-8FFC-2CE7-7B9C-FDCC37F6F0BB}"/>
              </a:ext>
            </a:extLst>
          </p:cNvPr>
          <p:cNvSpPr txBox="1">
            <a:spLocks/>
          </p:cNvSpPr>
          <p:nvPr/>
        </p:nvSpPr>
        <p:spPr>
          <a:xfrm>
            <a:off x="514471" y="1328001"/>
            <a:ext cx="11160078" cy="45084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Arial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388" indent="-227013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25425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227013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400" dirty="0" err="1">
                <a:latin typeface="Arial"/>
                <a:cs typeface="Arial"/>
              </a:rPr>
              <a:t>BQSKit</a:t>
            </a:r>
            <a:r>
              <a:rPr lang="en-US" sz="2400" dirty="0">
                <a:latin typeface="Arial"/>
                <a:cs typeface="Arial"/>
              </a:rPr>
              <a:t> works with </a:t>
            </a:r>
            <a:r>
              <a:rPr lang="en-US" sz="2400" i="1" dirty="0">
                <a:latin typeface="Arial"/>
                <a:cs typeface="Arial"/>
              </a:rPr>
              <a:t>parameterized</a:t>
            </a:r>
            <a:r>
              <a:rPr lang="en-US" sz="2400" dirty="0">
                <a:latin typeface="Arial"/>
                <a:cs typeface="Arial"/>
              </a:rPr>
              <a:t> gates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Arial"/>
                <a:cs typeface="Arial"/>
              </a:rPr>
              <a:t>Fault-tolerant gate sets consist of </a:t>
            </a:r>
            <a:r>
              <a:rPr lang="en-US" sz="2400" i="1" dirty="0">
                <a:latin typeface="Arial"/>
                <a:cs typeface="Arial"/>
              </a:rPr>
              <a:t>discrete</a:t>
            </a:r>
            <a:r>
              <a:rPr lang="en-US" sz="2400" dirty="0">
                <a:latin typeface="Arial"/>
                <a:cs typeface="Arial"/>
              </a:rPr>
              <a:t> (non-parameterized) gates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Arial"/>
                <a:cs typeface="Arial"/>
              </a:rPr>
              <a:t>This gap can be closed with </a:t>
            </a:r>
            <a:r>
              <a:rPr lang="en-US" sz="2400" i="1" dirty="0">
                <a:latin typeface="Arial"/>
                <a:cs typeface="Arial"/>
              </a:rPr>
              <a:t>single-qubit synthesis</a:t>
            </a:r>
            <a:endParaRPr lang="en-US" sz="2400" dirty="0">
              <a:latin typeface="Arial"/>
              <a:cs typeface="Arial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2F19EDA-8573-5C9B-250A-7B3CF3A1243C}"/>
              </a:ext>
            </a:extLst>
          </p:cNvPr>
          <p:cNvGrpSpPr/>
          <p:nvPr/>
        </p:nvGrpSpPr>
        <p:grpSpPr>
          <a:xfrm>
            <a:off x="1824782" y="2902262"/>
            <a:ext cx="3840988" cy="2734367"/>
            <a:chOff x="1879866" y="3298869"/>
            <a:chExt cx="3840988" cy="2734367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6C5DF01E-2BC9-3BDA-E48A-3E728D7211BD}"/>
                </a:ext>
              </a:extLst>
            </p:cNvPr>
            <p:cNvGrpSpPr/>
            <p:nvPr/>
          </p:nvGrpSpPr>
          <p:grpSpPr>
            <a:xfrm>
              <a:off x="2314967" y="3672313"/>
              <a:ext cx="2970786" cy="2360923"/>
              <a:chOff x="2184348" y="3582250"/>
              <a:chExt cx="2970786" cy="2360923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6F6DC2FE-1194-8570-6C33-F6D883E9E9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9025" t="25828" r="28992" b="50346"/>
              <a:stretch>
                <a:fillRect/>
              </a:stretch>
            </p:blipFill>
            <p:spPr>
              <a:xfrm>
                <a:off x="2184348" y="4890236"/>
                <a:ext cx="1485393" cy="1052937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E0909678-2663-1316-2CB3-EC661AAD4C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9025" t="25828" r="28992" b="50346"/>
              <a:stretch>
                <a:fillRect/>
              </a:stretch>
            </p:blipFill>
            <p:spPr>
              <a:xfrm>
                <a:off x="3669741" y="4236243"/>
                <a:ext cx="1485393" cy="1052937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0897C827-161C-9F7E-EB47-A6AC926374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59025" t="25828" r="28992" b="50346"/>
              <a:stretch>
                <a:fillRect/>
              </a:stretch>
            </p:blipFill>
            <p:spPr>
              <a:xfrm>
                <a:off x="2184348" y="3582250"/>
                <a:ext cx="1485393" cy="1052937"/>
              </a:xfrm>
              <a:prstGeom prst="rect">
                <a:avLst/>
              </a:prstGeom>
            </p:spPr>
          </p:pic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3AD04C95-FFD1-870C-0134-E0DBA58515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4348" y="3715633"/>
                <a:ext cx="2970786" cy="0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3ADA9B4A-BCAC-40F9-7620-F02D835EA0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48202" y="4370651"/>
                <a:ext cx="2006932" cy="0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2A961C47-DBB1-DFC7-BF0A-111AC690F7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4348" y="4370651"/>
                <a:ext cx="537433" cy="0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A0F6084-65DC-43CD-57BA-29431CADDB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48202" y="5679677"/>
                <a:ext cx="2006932" cy="0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E57EF783-0D39-2FA7-DC2C-55DED31DED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4348" y="5679677"/>
                <a:ext cx="537433" cy="0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A61C1EF-5E13-5630-6177-8FB2EB225CCB}"/>
                    </a:ext>
                  </a:extLst>
                </p:cNvPr>
                <p:cNvSpPr txBox="1"/>
                <p:nvPr/>
              </p:nvSpPr>
              <p:spPr>
                <a:xfrm>
                  <a:off x="1879866" y="3298869"/>
                  <a:ext cx="38409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1. Prepare circuits in Clifford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A61C1EF-5E13-5630-6177-8FB2EB225C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9866" y="3298869"/>
                  <a:ext cx="3840988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320" t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B09B793-C42D-B1C4-CAE0-E919FECF59E5}"/>
              </a:ext>
            </a:extLst>
          </p:cNvPr>
          <p:cNvGrpSpPr/>
          <p:nvPr/>
        </p:nvGrpSpPr>
        <p:grpSpPr>
          <a:xfrm>
            <a:off x="6039426" y="2907088"/>
            <a:ext cx="3894143" cy="2792729"/>
            <a:chOff x="6094510" y="3303695"/>
            <a:chExt cx="3894143" cy="279272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B66E5D2-56E3-E645-BE1F-23782D7A7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82353" t="16125" r="1654" b="47782"/>
            <a:stretch>
              <a:fillRect/>
            </a:stretch>
          </p:blipFill>
          <p:spPr>
            <a:xfrm>
              <a:off x="6495267" y="3672313"/>
              <a:ext cx="3012824" cy="2424111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7EF7DD6-C522-CD34-694E-450FBF8C2249}"/>
                    </a:ext>
                  </a:extLst>
                </p:cNvPr>
                <p:cNvSpPr txBox="1"/>
                <p:nvPr/>
              </p:nvSpPr>
              <p:spPr>
                <a:xfrm>
                  <a:off x="6094510" y="3303695"/>
                  <a:ext cx="38941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2. Convert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a14:m>
                  <a:r>
                    <a:rPr lang="en-US" dirty="0"/>
                    <a:t> gates to Clifford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7EF7DD6-C522-CD34-694E-450FBF8C22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4510" y="3303695"/>
                  <a:ext cx="3894143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1299" t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51178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3CB70-98C7-077B-0759-F4AB40329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Search-based synthesis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5FA284-ACB5-4DC5-A0BA-D31C70C2FD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9" name="Picture 8" descr="A black and white symbol&#10;&#10;AI-generated content may be incorrect.">
            <a:extLst>
              <a:ext uri="{FF2B5EF4-FFF2-40B4-BE49-F238E27FC236}">
                <a16:creationId xmlns:a16="http://schemas.microsoft.com/office/drawing/2014/main" id="{BCC3B552-8AC6-C4FC-EBD7-4E1C65C083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846" r="3638"/>
          <a:stretch>
            <a:fillRect/>
          </a:stretch>
        </p:blipFill>
        <p:spPr>
          <a:xfrm flipH="1">
            <a:off x="1044325" y="4045261"/>
            <a:ext cx="475666" cy="1043335"/>
          </a:xfrm>
          <a:prstGeom prst="rect">
            <a:avLst/>
          </a:prstGeom>
        </p:spPr>
      </p:pic>
      <p:pic>
        <p:nvPicPr>
          <p:cNvPr id="8" name="Picture 7" descr="A black and white symbol&#10;&#10;AI-generated content may be incorrect.">
            <a:extLst>
              <a:ext uri="{FF2B5EF4-FFF2-40B4-BE49-F238E27FC236}">
                <a16:creationId xmlns:a16="http://schemas.microsoft.com/office/drawing/2014/main" id="{221DD29D-1528-1B2C-AAB5-DF20ADA25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9468" y="5032181"/>
            <a:ext cx="2818061" cy="844363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C153A3F7-A695-714F-CEC3-C99DABFCE03D}"/>
              </a:ext>
            </a:extLst>
          </p:cNvPr>
          <p:cNvGrpSpPr/>
          <p:nvPr/>
        </p:nvGrpSpPr>
        <p:grpSpPr>
          <a:xfrm>
            <a:off x="1716943" y="3429000"/>
            <a:ext cx="7118119" cy="2910337"/>
            <a:chOff x="3143422" y="3922110"/>
            <a:chExt cx="5518180" cy="2256181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6E037E8-7D0A-AE10-F197-AC64E44497C0}"/>
                </a:ext>
              </a:extLst>
            </p:cNvPr>
            <p:cNvGrpSpPr/>
            <p:nvPr/>
          </p:nvGrpSpPr>
          <p:grpSpPr>
            <a:xfrm>
              <a:off x="3143422" y="3922110"/>
              <a:ext cx="5518180" cy="2256181"/>
              <a:chOff x="1672217" y="3676385"/>
              <a:chExt cx="6652032" cy="2719771"/>
            </a:xfrm>
          </p:grpSpPr>
          <p:pic>
            <p:nvPicPr>
              <p:cNvPr id="7" name="Picture 6" descr="A black line drawing of a network&#10;&#10;AI-generated content may be incorrect.">
                <a:extLst>
                  <a:ext uri="{FF2B5EF4-FFF2-40B4-BE49-F238E27FC236}">
                    <a16:creationId xmlns:a16="http://schemas.microsoft.com/office/drawing/2014/main" id="{5A78C8B7-8447-2AE9-3189-FD5F512DBE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r="17011"/>
              <a:stretch>
                <a:fillRect/>
              </a:stretch>
            </p:blipFill>
            <p:spPr>
              <a:xfrm>
                <a:off x="1672217" y="3676385"/>
                <a:ext cx="6450151" cy="2719771"/>
              </a:xfrm>
              <a:prstGeom prst="rect">
                <a:avLst/>
              </a:prstGeom>
            </p:spPr>
          </p:pic>
          <p:pic>
            <p:nvPicPr>
              <p:cNvPr id="30" name="Picture 29" descr="A black line drawing of a network&#10;&#10;AI-generated content may be incorrect.">
                <a:extLst>
                  <a:ext uri="{FF2B5EF4-FFF2-40B4-BE49-F238E27FC236}">
                    <a16:creationId xmlns:a16="http://schemas.microsoft.com/office/drawing/2014/main" id="{C18D9CE6-8E91-8943-6528-D5A10B4019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t="30519" r="96574" b="55485"/>
              <a:stretch>
                <a:fillRect/>
              </a:stretch>
            </p:blipFill>
            <p:spPr>
              <a:xfrm rot="10800000">
                <a:off x="8057981" y="5501499"/>
                <a:ext cx="266268" cy="380656"/>
              </a:xfrm>
              <a:prstGeom prst="rect">
                <a:avLst/>
              </a:prstGeom>
            </p:spPr>
          </p:pic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3D72FBA-E89C-1FF9-A45F-EDACDA76B5C2}"/>
                </a:ext>
              </a:extLst>
            </p:cNvPr>
            <p:cNvGrpSpPr/>
            <p:nvPr/>
          </p:nvGrpSpPr>
          <p:grpSpPr>
            <a:xfrm>
              <a:off x="5429534" y="4433505"/>
              <a:ext cx="571459" cy="369332"/>
              <a:chOff x="4164356" y="1660581"/>
              <a:chExt cx="571459" cy="369332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726319D-DD9A-6C2A-D7F1-C4AC9D6DD043}"/>
                  </a:ext>
                </a:extLst>
              </p:cNvPr>
              <p:cNvSpPr/>
              <p:nvPr/>
            </p:nvSpPr>
            <p:spPr>
              <a:xfrm>
                <a:off x="4205513" y="1706606"/>
                <a:ext cx="403939" cy="2782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4A8853E-E56E-1B93-DF3E-7BCF709479B5}"/>
                  </a:ext>
                </a:extLst>
              </p:cNvPr>
              <p:cNvSpPr txBox="1"/>
              <p:nvPr/>
            </p:nvSpPr>
            <p:spPr>
              <a:xfrm>
                <a:off x="4164356" y="1660581"/>
                <a:ext cx="5714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0000"/>
                    </a:solidFill>
                  </a:rPr>
                  <a:t>CX</a:t>
                </a:r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3E8A759F-B064-99EE-9F44-9442D36FD966}"/>
                </a:ext>
              </a:extLst>
            </p:cNvPr>
            <p:cNvGrpSpPr/>
            <p:nvPr/>
          </p:nvGrpSpPr>
          <p:grpSpPr>
            <a:xfrm>
              <a:off x="3644309" y="4463666"/>
              <a:ext cx="351378" cy="369332"/>
              <a:chOff x="3405656" y="1986516"/>
              <a:chExt cx="351378" cy="369332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FAA83A2-C880-DD79-A25A-B5EDF37ECC30}"/>
                  </a:ext>
                </a:extLst>
              </p:cNvPr>
              <p:cNvSpPr/>
              <p:nvPr/>
            </p:nvSpPr>
            <p:spPr>
              <a:xfrm>
                <a:off x="3439884" y="2029913"/>
                <a:ext cx="237455" cy="2782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AECB64-1AB0-0E5E-8601-1B4C55330B87}"/>
                  </a:ext>
                </a:extLst>
              </p:cNvPr>
              <p:cNvSpPr txBox="1"/>
              <p:nvPr/>
            </p:nvSpPr>
            <p:spPr>
              <a:xfrm>
                <a:off x="3405656" y="1986516"/>
                <a:ext cx="3513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0000"/>
                    </a:solidFill>
                  </a:rPr>
                  <a:t>H</a:t>
                </a: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4503423-9CFF-A800-92B8-4A805A9839F3}"/>
                </a:ext>
              </a:extLst>
            </p:cNvPr>
            <p:cNvGrpSpPr/>
            <p:nvPr/>
          </p:nvGrpSpPr>
          <p:grpSpPr>
            <a:xfrm>
              <a:off x="4669804" y="4294358"/>
              <a:ext cx="351378" cy="369332"/>
              <a:chOff x="2881192" y="1861435"/>
              <a:chExt cx="351378" cy="369332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73046D2B-2FFD-6E29-E45D-3E0785551002}"/>
                  </a:ext>
                </a:extLst>
              </p:cNvPr>
              <p:cNvSpPr/>
              <p:nvPr/>
            </p:nvSpPr>
            <p:spPr>
              <a:xfrm>
                <a:off x="2909726" y="1906955"/>
                <a:ext cx="237455" cy="2782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96F5C29-BAA8-53F9-2C60-F4E92994AE3C}"/>
                  </a:ext>
                </a:extLst>
              </p:cNvPr>
              <p:cNvSpPr txBox="1"/>
              <p:nvPr/>
            </p:nvSpPr>
            <p:spPr>
              <a:xfrm>
                <a:off x="2881192" y="1861435"/>
                <a:ext cx="3513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0000"/>
                    </a:solidFill>
                  </a:rPr>
                  <a:t>X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9ECC652-B754-2842-FE12-BDC26CB795CB}"/>
                </a:ext>
              </a:extLst>
            </p:cNvPr>
            <p:cNvGrpSpPr/>
            <p:nvPr/>
          </p:nvGrpSpPr>
          <p:grpSpPr>
            <a:xfrm>
              <a:off x="7946851" y="5394024"/>
              <a:ext cx="351378" cy="369332"/>
              <a:chOff x="2875882" y="1867158"/>
              <a:chExt cx="351378" cy="369332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E2FD579-65B5-F470-B48F-0F339ECD99CB}"/>
                  </a:ext>
                </a:extLst>
              </p:cNvPr>
              <p:cNvSpPr/>
              <p:nvPr/>
            </p:nvSpPr>
            <p:spPr>
              <a:xfrm>
                <a:off x="2909726" y="1906955"/>
                <a:ext cx="237455" cy="2782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D219013-0FC5-31CC-4F8D-92A8EC78CD84}"/>
                  </a:ext>
                </a:extLst>
              </p:cNvPr>
              <p:cNvSpPr txBox="1"/>
              <p:nvPr/>
            </p:nvSpPr>
            <p:spPr>
              <a:xfrm>
                <a:off x="2875882" y="1867158"/>
                <a:ext cx="3513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0000"/>
                    </a:solidFill>
                  </a:rPr>
                  <a:t>X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3D0AF194-CF77-0568-AD99-0023A17A6BF3}"/>
                </a:ext>
              </a:extLst>
            </p:cNvPr>
            <p:cNvGrpSpPr/>
            <p:nvPr/>
          </p:nvGrpSpPr>
          <p:grpSpPr>
            <a:xfrm>
              <a:off x="6233655" y="4785861"/>
              <a:ext cx="351378" cy="369332"/>
              <a:chOff x="5498143" y="2175106"/>
              <a:chExt cx="351378" cy="369332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0BF67AE-BE5A-D327-E44E-5C7FD6E8BA7A}"/>
                  </a:ext>
                </a:extLst>
              </p:cNvPr>
              <p:cNvSpPr/>
              <p:nvPr/>
            </p:nvSpPr>
            <p:spPr>
              <a:xfrm>
                <a:off x="5520193" y="2220626"/>
                <a:ext cx="237455" cy="2782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163132F-1913-5B5C-E774-E7C0A03CD2C0}"/>
                  </a:ext>
                </a:extLst>
              </p:cNvPr>
              <p:cNvSpPr txBox="1"/>
              <p:nvPr/>
            </p:nvSpPr>
            <p:spPr>
              <a:xfrm>
                <a:off x="5498143" y="2175106"/>
                <a:ext cx="3513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0000"/>
                    </a:solidFill>
                  </a:rPr>
                  <a:t>T</a:t>
                </a: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4302628-C707-E512-4273-49985F2EE731}"/>
                </a:ext>
              </a:extLst>
            </p:cNvPr>
            <p:cNvGrpSpPr/>
            <p:nvPr/>
          </p:nvGrpSpPr>
          <p:grpSpPr>
            <a:xfrm>
              <a:off x="6857475" y="5206027"/>
              <a:ext cx="571459" cy="369332"/>
              <a:chOff x="4165710" y="1663478"/>
              <a:chExt cx="571459" cy="369332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3071F5C-E9EE-9D13-1E23-2FAE3B9F26E9}"/>
                  </a:ext>
                </a:extLst>
              </p:cNvPr>
              <p:cNvSpPr/>
              <p:nvPr/>
            </p:nvSpPr>
            <p:spPr>
              <a:xfrm>
                <a:off x="4205513" y="1706606"/>
                <a:ext cx="403939" cy="27829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56674B6-ABE5-92BD-DBBA-FE31E097C016}"/>
                  </a:ext>
                </a:extLst>
              </p:cNvPr>
              <p:cNvSpPr txBox="1"/>
              <p:nvPr/>
            </p:nvSpPr>
            <p:spPr>
              <a:xfrm>
                <a:off x="4165710" y="1663478"/>
                <a:ext cx="5714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solidFill>
                      <a:srgbClr val="000000"/>
                    </a:solidFill>
                  </a:rPr>
                  <a:t>CX</a:t>
                </a:r>
              </a:p>
            </p:txBody>
          </p:sp>
        </p:grpSp>
      </p:grp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4D77E83B-C59E-0DE5-BAFD-4628F45ABA41}"/>
              </a:ext>
            </a:extLst>
          </p:cNvPr>
          <p:cNvSpPr txBox="1">
            <a:spLocks/>
          </p:cNvSpPr>
          <p:nvPr/>
        </p:nvSpPr>
        <p:spPr>
          <a:xfrm>
            <a:off x="514471" y="1607947"/>
            <a:ext cx="11031946" cy="45084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Arial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388" indent="-227013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25425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227013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Arial"/>
                <a:cs typeface="Arial"/>
              </a:rPr>
              <a:t>Synthesis with discrete fault-tolerant gate sets are search-based algorithms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latin typeface="Arial"/>
                <a:cs typeface="Arial"/>
              </a:rPr>
              <a:t>Search through trees of possible gate placements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Arial"/>
                <a:cs typeface="Arial"/>
              </a:rPr>
              <a:t>This approach is highly effective for shallow unitaries</a:t>
            </a:r>
          </a:p>
        </p:txBody>
      </p:sp>
    </p:spTree>
    <p:extLst>
      <p:ext uri="{BB962C8B-B14F-4D97-AF65-F5344CB8AC3E}">
        <p14:creationId xmlns:p14="http://schemas.microsoft.com/office/powerpoint/2010/main" val="581031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E48DF-13CE-F573-3047-157167D9C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5925C-25BB-84CD-C08A-BFCA39933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Synthesis by diagonalization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DEEB9B-954A-CE49-989A-BB529F3EA2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92C877-449D-25E1-B15C-8BABF8582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85" y="3692043"/>
            <a:ext cx="4519593" cy="214445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B7879E15-1B1A-A2B6-C304-41C31BAFCDC0}"/>
              </a:ext>
            </a:extLst>
          </p:cNvPr>
          <p:cNvGrpSpPr/>
          <p:nvPr/>
        </p:nvGrpSpPr>
        <p:grpSpPr>
          <a:xfrm>
            <a:off x="5991292" y="4725501"/>
            <a:ext cx="2715311" cy="1143221"/>
            <a:chOff x="5865480" y="2951088"/>
            <a:chExt cx="2715311" cy="114322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3B72973-4669-EA95-71A7-AF9E0B82ECD8}"/>
                </a:ext>
              </a:extLst>
            </p:cNvPr>
            <p:cNvGrpSpPr/>
            <p:nvPr/>
          </p:nvGrpSpPr>
          <p:grpSpPr>
            <a:xfrm>
              <a:off x="5865480" y="3113705"/>
              <a:ext cx="2715311" cy="980604"/>
              <a:chOff x="5865480" y="3113705"/>
              <a:chExt cx="2715311" cy="980604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5B49BCB4-4511-EA8C-A9E1-04755B1437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19564"/>
              <a:stretch>
                <a:fillRect/>
              </a:stretch>
            </p:blipFill>
            <p:spPr>
              <a:xfrm>
                <a:off x="6156340" y="3113705"/>
                <a:ext cx="2424451" cy="980604"/>
              </a:xfrm>
              <a:prstGeom prst="rect">
                <a:avLst/>
              </a:prstGeom>
            </p:spPr>
          </p:pic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46DF90B-8771-A852-1B8C-F03FDDBFF7CB}"/>
                  </a:ext>
                </a:extLst>
              </p:cNvPr>
              <p:cNvSpPr/>
              <p:nvPr/>
            </p:nvSpPr>
            <p:spPr>
              <a:xfrm>
                <a:off x="5865480" y="3378861"/>
                <a:ext cx="104172" cy="21606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1AEF882-44A7-9BC4-4056-744F5297E5F0}"/>
                </a:ext>
              </a:extLst>
            </p:cNvPr>
            <p:cNvSpPr txBox="1"/>
            <p:nvPr/>
          </p:nvSpPr>
          <p:spPr>
            <a:xfrm>
              <a:off x="6985184" y="2951088"/>
              <a:ext cx="5870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 = 3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9B489EC-A3B3-29E4-1758-0180D211D3BD}"/>
                </a:ext>
              </a:extLst>
            </p:cNvPr>
            <p:cNvSpPr/>
            <p:nvPr/>
          </p:nvSpPr>
          <p:spPr>
            <a:xfrm>
              <a:off x="6628774" y="3528292"/>
              <a:ext cx="159766" cy="147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2B3050-02C2-D814-7502-FFF1C0E1E4AA}"/>
                </a:ext>
              </a:extLst>
            </p:cNvPr>
            <p:cNvSpPr/>
            <p:nvPr/>
          </p:nvSpPr>
          <p:spPr>
            <a:xfrm>
              <a:off x="6858708" y="3845092"/>
              <a:ext cx="159766" cy="147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728900E-0816-D0A5-80FD-D1ED93B1E958}"/>
                </a:ext>
              </a:extLst>
            </p:cNvPr>
            <p:cNvSpPr/>
            <p:nvPr/>
          </p:nvSpPr>
          <p:spPr>
            <a:xfrm>
              <a:off x="7322258" y="3846391"/>
              <a:ext cx="159766" cy="147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B9825C6-78F7-6B62-7EDE-5C315D7FD5AF}"/>
                </a:ext>
              </a:extLst>
            </p:cNvPr>
            <p:cNvSpPr/>
            <p:nvPr/>
          </p:nvSpPr>
          <p:spPr>
            <a:xfrm>
              <a:off x="7791759" y="3845092"/>
              <a:ext cx="159766" cy="147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AF3AB95-70CF-1471-BA54-BEE82BD76EFB}"/>
                </a:ext>
              </a:extLst>
            </p:cNvPr>
            <p:cNvSpPr/>
            <p:nvPr/>
          </p:nvSpPr>
          <p:spPr>
            <a:xfrm>
              <a:off x="8258313" y="3845221"/>
              <a:ext cx="159766" cy="147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5591022-F899-0A74-8C35-BB730CC26910}"/>
                </a:ext>
              </a:extLst>
            </p:cNvPr>
            <p:cNvSpPr/>
            <p:nvPr/>
          </p:nvSpPr>
          <p:spPr>
            <a:xfrm>
              <a:off x="8258142" y="3534133"/>
              <a:ext cx="159766" cy="147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B835C79-B7FE-6BE9-C3B7-D9BDEC8A7198}"/>
                </a:ext>
              </a:extLst>
            </p:cNvPr>
            <p:cNvSpPr/>
            <p:nvPr/>
          </p:nvSpPr>
          <p:spPr>
            <a:xfrm>
              <a:off x="8258142" y="3218340"/>
              <a:ext cx="159766" cy="147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D5EB85B-839E-E826-FF47-F702A49F14CB}"/>
                </a:ext>
              </a:extLst>
            </p:cNvPr>
            <p:cNvSpPr txBox="1"/>
            <p:nvPr/>
          </p:nvSpPr>
          <p:spPr>
            <a:xfrm>
              <a:off x="6543387" y="3464757"/>
              <a:ext cx="3305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R</a:t>
              </a:r>
              <a:r>
                <a:rPr lang="en-US" sz="1000" baseline="-25000" dirty="0"/>
                <a:t>Z</a:t>
              </a:r>
              <a:endParaRPr lang="en-US" sz="100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B4D2756-A498-79CD-A8DC-9777EB9293BB}"/>
                </a:ext>
              </a:extLst>
            </p:cNvPr>
            <p:cNvSpPr txBox="1"/>
            <p:nvPr/>
          </p:nvSpPr>
          <p:spPr>
            <a:xfrm>
              <a:off x="6775376" y="3779533"/>
              <a:ext cx="3305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R</a:t>
              </a:r>
              <a:r>
                <a:rPr lang="en-US" sz="1000" baseline="-25000" dirty="0"/>
                <a:t>Z</a:t>
              </a:r>
              <a:endParaRPr lang="en-US" sz="100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0F2FAAF-95FE-C10C-B63F-4A52EC976AF2}"/>
                </a:ext>
              </a:extLst>
            </p:cNvPr>
            <p:cNvSpPr txBox="1"/>
            <p:nvPr/>
          </p:nvSpPr>
          <p:spPr>
            <a:xfrm>
              <a:off x="7241664" y="3779533"/>
              <a:ext cx="3305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R</a:t>
              </a:r>
              <a:r>
                <a:rPr lang="en-US" sz="1000" baseline="-25000" dirty="0"/>
                <a:t>Z</a:t>
              </a:r>
              <a:endParaRPr lang="en-US" sz="10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90D706B-AC7E-BD52-CA58-CE86919A6BA9}"/>
                </a:ext>
              </a:extLst>
            </p:cNvPr>
            <p:cNvSpPr txBox="1"/>
            <p:nvPr/>
          </p:nvSpPr>
          <p:spPr>
            <a:xfrm>
              <a:off x="7706372" y="3777378"/>
              <a:ext cx="3305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R</a:t>
              </a:r>
              <a:r>
                <a:rPr lang="en-US" sz="1000" baseline="-25000" dirty="0"/>
                <a:t>Z</a:t>
              </a:r>
              <a:endParaRPr lang="en-US" sz="10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9F6EF21-2F07-8A9D-CC25-F7A268BFD674}"/>
                </a:ext>
              </a:extLst>
            </p:cNvPr>
            <p:cNvSpPr txBox="1"/>
            <p:nvPr/>
          </p:nvSpPr>
          <p:spPr>
            <a:xfrm>
              <a:off x="8175405" y="3777361"/>
              <a:ext cx="3305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R</a:t>
              </a:r>
              <a:r>
                <a:rPr lang="en-US" sz="1000" baseline="-25000" dirty="0"/>
                <a:t>Z</a:t>
              </a:r>
              <a:endParaRPr lang="en-US" sz="1000" dirty="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E1D9516-A437-46B1-9428-2D9A9E147319}"/>
                </a:ext>
              </a:extLst>
            </p:cNvPr>
            <p:cNvSpPr txBox="1"/>
            <p:nvPr/>
          </p:nvSpPr>
          <p:spPr>
            <a:xfrm>
              <a:off x="8175405" y="3464756"/>
              <a:ext cx="3305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R</a:t>
              </a:r>
              <a:r>
                <a:rPr lang="en-US" sz="1000" baseline="-25000" dirty="0"/>
                <a:t>Z</a:t>
              </a:r>
              <a:endParaRPr lang="en-US" sz="10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371863A-4D23-0523-8AE3-EF2B2EDA623E}"/>
                </a:ext>
              </a:extLst>
            </p:cNvPr>
            <p:cNvSpPr txBox="1"/>
            <p:nvPr/>
          </p:nvSpPr>
          <p:spPr>
            <a:xfrm>
              <a:off x="8172755" y="3151936"/>
              <a:ext cx="33054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R</a:t>
              </a:r>
              <a:r>
                <a:rPr lang="en-US" sz="1000" baseline="-25000" dirty="0"/>
                <a:t>Z</a:t>
              </a:r>
              <a:endParaRPr lang="en-US" sz="10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62CD33C-0CB2-79E1-F667-4C3C4BD6143C}"/>
              </a:ext>
            </a:extLst>
          </p:cNvPr>
          <p:cNvGrpSpPr/>
          <p:nvPr/>
        </p:nvGrpSpPr>
        <p:grpSpPr>
          <a:xfrm>
            <a:off x="6094510" y="3668308"/>
            <a:ext cx="2580706" cy="912800"/>
            <a:chOff x="8665812" y="4047955"/>
            <a:chExt cx="2580706" cy="91280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97F872F-A699-151D-589D-45B5926BD81C}"/>
                    </a:ext>
                  </a:extLst>
                </p:cNvPr>
                <p:cNvSpPr txBox="1"/>
                <p:nvPr/>
              </p:nvSpPr>
              <p:spPr>
                <a:xfrm>
                  <a:off x="8665812" y="4202183"/>
                  <a:ext cx="1181838" cy="70788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sz="4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</m:oMath>
                  </a14:m>
                  <a:r>
                    <a:rPr lang="en-US" sz="3600" dirty="0"/>
                    <a:t>=</a:t>
                  </a:r>
                </a:p>
              </p:txBody>
            </p:sp>
          </mc:Choice>
          <mc:Fallback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97F872F-A699-151D-589D-45B5926BD8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5812" y="4202183"/>
                  <a:ext cx="1181838" cy="707886"/>
                </a:xfrm>
                <a:prstGeom prst="rect">
                  <a:avLst/>
                </a:prstGeom>
                <a:blipFill>
                  <a:blip r:embed="rId5"/>
                  <a:stretch>
                    <a:fillRect l="-7447" t="-5263" r="-1064" b="-298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6" name="Picture 25" descr="A black dotted line with words&#10;&#10;AI-generated content may be incorrect.">
              <a:extLst>
                <a:ext uri="{FF2B5EF4-FFF2-40B4-BE49-F238E27FC236}">
                  <a16:creationId xmlns:a16="http://schemas.microsoft.com/office/drawing/2014/main" id="{826583C2-C729-F6E9-921D-DB86344F5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668752" y="4047955"/>
              <a:ext cx="1577766" cy="912800"/>
            </a:xfrm>
            <a:prstGeom prst="rect">
              <a:avLst/>
            </a:prstGeom>
          </p:spPr>
        </p:pic>
      </p:grp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D490C977-8429-B4BE-1714-49E82B5CF5E7}"/>
              </a:ext>
            </a:extLst>
          </p:cNvPr>
          <p:cNvSpPr txBox="1">
            <a:spLocks/>
          </p:cNvSpPr>
          <p:nvPr/>
        </p:nvSpPr>
        <p:spPr>
          <a:xfrm>
            <a:off x="514471" y="1328001"/>
            <a:ext cx="11160078" cy="45084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Arial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388" indent="-227013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25425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227013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Arial"/>
                <a:cs typeface="Arial"/>
              </a:rPr>
              <a:t>Use search-based synthesis in a </a:t>
            </a:r>
            <a:r>
              <a:rPr lang="en-US" sz="2400" i="1" dirty="0">
                <a:latin typeface="Arial"/>
                <a:cs typeface="Arial"/>
              </a:rPr>
              <a:t>double headed search</a:t>
            </a:r>
            <a:endParaRPr lang="en-US"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Arial"/>
                <a:cs typeface="Arial"/>
              </a:rPr>
              <a:t>Let parameterized gates exist between the two discrete portions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Arial"/>
                <a:cs typeface="Arial"/>
              </a:rPr>
              <a:t>Come to </a:t>
            </a:r>
            <a:r>
              <a:rPr lang="en-US" sz="2400" b="1" i="1" dirty="0">
                <a:latin typeface="Arial"/>
                <a:cs typeface="Arial"/>
              </a:rPr>
              <a:t>TP20:QSYS @ 3:00PM </a:t>
            </a:r>
            <a:r>
              <a:rPr lang="en-US" sz="2400" dirty="0">
                <a:latin typeface="Arial"/>
                <a:cs typeface="Arial"/>
              </a:rPr>
              <a:t>tomorrow to learn about some techniques we developed to do this with Machine Learning!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E579481-C762-EF05-3CCD-F606A1E6A1D4}"/>
              </a:ext>
            </a:extLst>
          </p:cNvPr>
          <p:cNvGrpSpPr/>
          <p:nvPr/>
        </p:nvGrpSpPr>
        <p:grpSpPr>
          <a:xfrm>
            <a:off x="9679012" y="4679521"/>
            <a:ext cx="1556836" cy="1540769"/>
            <a:chOff x="10372612" y="3158134"/>
            <a:chExt cx="1556836" cy="1540769"/>
          </a:xfrm>
        </p:grpSpPr>
        <p:pic>
          <p:nvPicPr>
            <p:cNvPr id="30" name="Picture 29" descr="A qr code on a white background&#10;&#10;AI-generated content may be incorrect.">
              <a:extLst>
                <a:ext uri="{FF2B5EF4-FFF2-40B4-BE49-F238E27FC236}">
                  <a16:creationId xmlns:a16="http://schemas.microsoft.com/office/drawing/2014/main" id="{730F95FD-2962-3E80-CC18-87B67074E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547781" y="3158134"/>
              <a:ext cx="1206499" cy="1198716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625099F-0494-31DE-690D-212095724A4F}"/>
                </a:ext>
              </a:extLst>
            </p:cNvPr>
            <p:cNvSpPr txBox="1"/>
            <p:nvPr/>
          </p:nvSpPr>
          <p:spPr>
            <a:xfrm>
              <a:off x="10372612" y="4391126"/>
              <a:ext cx="15568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arxiv:2504.15990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DDC9113-13AC-83E5-AAF8-E0DE27030928}"/>
              </a:ext>
            </a:extLst>
          </p:cNvPr>
          <p:cNvGrpSpPr/>
          <p:nvPr/>
        </p:nvGrpSpPr>
        <p:grpSpPr>
          <a:xfrm>
            <a:off x="9679012" y="3036908"/>
            <a:ext cx="1556836" cy="1514276"/>
            <a:chOff x="8277043" y="3184627"/>
            <a:chExt cx="1556836" cy="1514276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71C6A487-6BF0-2C5E-017A-E8DF6A75B64E}"/>
                </a:ext>
              </a:extLst>
            </p:cNvPr>
            <p:cNvSpPr txBox="1"/>
            <p:nvPr/>
          </p:nvSpPr>
          <p:spPr>
            <a:xfrm>
              <a:off x="8277043" y="4391126"/>
              <a:ext cx="15568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arxiv:2409.00433</a:t>
              </a:r>
            </a:p>
          </p:txBody>
        </p:sp>
        <p:pic>
          <p:nvPicPr>
            <p:cNvPr id="32" name="Picture 31" descr="A qr code on a white background&#10;&#10;AI-generated content may be incorrect.">
              <a:extLst>
                <a:ext uri="{FF2B5EF4-FFF2-40B4-BE49-F238E27FC236}">
                  <a16:creationId xmlns:a16="http://schemas.microsoft.com/office/drawing/2014/main" id="{17294D20-732C-5C0E-D435-74651BA74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452211" y="3184627"/>
              <a:ext cx="1206499" cy="12064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12200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733FB-8E7E-C4BF-D278-7DA20C928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F4CAF-4262-AD68-B4CC-6BA9D2AC8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Constrained optimization (NTRO)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449FA8-E617-0E8F-C1E5-046DA6C6D9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8A8DAA5-DF82-2E46-91D2-ED37809EC814}"/>
              </a:ext>
            </a:extLst>
          </p:cNvPr>
          <p:cNvGrpSpPr/>
          <p:nvPr/>
        </p:nvGrpSpPr>
        <p:grpSpPr>
          <a:xfrm>
            <a:off x="6141382" y="3131403"/>
            <a:ext cx="3701131" cy="2515353"/>
            <a:chOff x="6695719" y="3911558"/>
            <a:chExt cx="3701131" cy="2515353"/>
          </a:xfrm>
        </p:grpSpPr>
        <p:pic>
          <p:nvPicPr>
            <p:cNvPr id="5" name="Picture 4" descr="A drawing of a map&#10;&#10;AI-generated content may be incorrect.">
              <a:extLst>
                <a:ext uri="{FF2B5EF4-FFF2-40B4-BE49-F238E27FC236}">
                  <a16:creationId xmlns:a16="http://schemas.microsoft.com/office/drawing/2014/main" id="{2FD8AF20-3ADA-43A3-CD9C-C3DE091CA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3116" b="2929"/>
            <a:stretch>
              <a:fillRect/>
            </a:stretch>
          </p:blipFill>
          <p:spPr>
            <a:xfrm>
              <a:off x="7057628" y="4446250"/>
              <a:ext cx="2625787" cy="1616295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C616A0C-D297-1C10-0192-66A5F73751D1}"/>
                </a:ext>
              </a:extLst>
            </p:cNvPr>
            <p:cNvSpPr txBox="1"/>
            <p:nvPr/>
          </p:nvSpPr>
          <p:spPr>
            <a:xfrm>
              <a:off x="7301947" y="6101187"/>
              <a:ext cx="1531357" cy="3257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u="sng" dirty="0"/>
                <a:t>Solution Space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A6DBB9E-0282-19A5-17BC-E012B7776FBD}"/>
                    </a:ext>
                  </a:extLst>
                </p:cNvPr>
                <p:cNvSpPr txBox="1"/>
                <p:nvPr/>
              </p:nvSpPr>
              <p:spPr>
                <a:xfrm>
                  <a:off x="9363127" y="5714607"/>
                  <a:ext cx="1033723" cy="57001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Infeasbile</a:t>
                  </a:r>
                </a:p>
                <a:p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𝐻𝑆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316C2D4F-C420-B7C9-6268-44EB911F1F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363127" y="5714607"/>
                  <a:ext cx="1033723" cy="570018"/>
                </a:xfrm>
                <a:prstGeom prst="rect">
                  <a:avLst/>
                </a:prstGeom>
                <a:blipFill>
                  <a:blip r:embed="rId14"/>
                  <a:stretch>
                    <a:fillRect l="-5325" t="-5376" r="-17160" b="-311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B0012971-1494-EC45-6351-9C19E3E74257}"/>
                </a:ext>
              </a:extLst>
            </p:cNvPr>
            <p:cNvCxnSpPr/>
            <p:nvPr/>
          </p:nvCxnSpPr>
          <p:spPr>
            <a:xfrm flipH="1" flipV="1">
              <a:off x="8946792" y="5605402"/>
              <a:ext cx="400206" cy="407156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44E9D19-3CB0-751A-F476-AC282DA501F1}"/>
                </a:ext>
              </a:extLst>
            </p:cNvPr>
            <p:cNvGrpSpPr/>
            <p:nvPr/>
          </p:nvGrpSpPr>
          <p:grpSpPr>
            <a:xfrm>
              <a:off x="6695719" y="3911558"/>
              <a:ext cx="3579404" cy="579533"/>
              <a:chOff x="6337087" y="3871080"/>
              <a:chExt cx="3579404" cy="579533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C067A40-4126-B70E-E95E-8832B07B3B65}"/>
                  </a:ext>
                </a:extLst>
              </p:cNvPr>
              <p:cNvSpPr txBox="1"/>
              <p:nvPr/>
            </p:nvSpPr>
            <p:spPr>
              <a:xfrm>
                <a:off x="7679059" y="3871080"/>
                <a:ext cx="886751" cy="3257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T-Count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181E80F-B541-4C03-F6E6-EE27E1563384}"/>
                  </a:ext>
                </a:extLst>
              </p:cNvPr>
              <p:cNvSpPr txBox="1"/>
              <p:nvPr/>
            </p:nvSpPr>
            <p:spPr>
              <a:xfrm>
                <a:off x="9380403" y="4124889"/>
                <a:ext cx="536088" cy="3257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Low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5CC6102-8F9B-EFAD-CC11-8899F80EDEAB}"/>
                  </a:ext>
                </a:extLst>
              </p:cNvPr>
              <p:cNvSpPr txBox="1"/>
              <p:nvPr/>
            </p:nvSpPr>
            <p:spPr>
              <a:xfrm>
                <a:off x="6337087" y="4092448"/>
                <a:ext cx="581328" cy="3257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High</a:t>
                </a:r>
              </a:p>
            </p:txBody>
          </p:sp>
          <p:pic>
            <p:nvPicPr>
              <p:cNvPr id="13" name="Picture 12" descr="A drawing of a map&#10;&#10;AI-generated content may be incorrect.">
                <a:extLst>
                  <a:ext uri="{FF2B5EF4-FFF2-40B4-BE49-F238E27FC236}">
                    <a16:creationId xmlns:a16="http://schemas.microsoft.com/office/drawing/2014/main" id="{0F750B9D-413B-CCD1-CC32-62B4395572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965" t="336" r="26769" b="91541"/>
              <a:stretch>
                <a:fillRect/>
              </a:stretch>
            </p:blipFill>
            <p:spPr>
              <a:xfrm>
                <a:off x="6918415" y="4150648"/>
                <a:ext cx="2514320" cy="286509"/>
              </a:xfrm>
              <a:prstGeom prst="rect">
                <a:avLst/>
              </a:prstGeom>
            </p:spPr>
          </p:pic>
        </p:grpSp>
      </p:grpSp>
      <p:pic>
        <p:nvPicPr>
          <p:cNvPr id="15" name="Picture 1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F0882A1B-5C81-55E7-530D-010BE9C8277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74880" y="136526"/>
            <a:ext cx="1521198" cy="1511157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CAB450B-DB7C-9126-C2B2-E2813F5E3075}"/>
              </a:ext>
            </a:extLst>
          </p:cNvPr>
          <p:cNvGrpSpPr/>
          <p:nvPr/>
        </p:nvGrpSpPr>
        <p:grpSpPr>
          <a:xfrm>
            <a:off x="1928003" y="3731018"/>
            <a:ext cx="3529428" cy="1150505"/>
            <a:chOff x="2167382" y="4851789"/>
            <a:chExt cx="3529428" cy="11505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C6C77F9-7CEB-D925-B589-AC0806E9D878}"/>
                    </a:ext>
                  </a:extLst>
                </p:cNvPr>
                <p:cNvSpPr txBox="1"/>
                <p:nvPr/>
              </p:nvSpPr>
              <p:spPr>
                <a:xfrm>
                  <a:off x="2179004" y="4851789"/>
                  <a:ext cx="3227935" cy="64100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3200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𝑐𝑜𝑢𝑛𝑡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147B9C85-77EF-0763-86D0-98F636BB5B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9004" y="4851789"/>
                  <a:ext cx="3227935" cy="641009"/>
                </a:xfrm>
                <a:prstGeom prst="rect">
                  <a:avLst/>
                </a:prstGeom>
                <a:blipFill>
                  <a:blip r:embed="rId8"/>
                  <a:stretch>
                    <a:fillRect l="-2353" t="-7843" r="-4314" b="-156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EE404A42-56B2-0C96-E4D2-CCB41DA35C9E}"/>
                    </a:ext>
                  </a:extLst>
                </p:cNvPr>
                <p:cNvSpPr txBox="1"/>
                <p:nvPr/>
              </p:nvSpPr>
              <p:spPr>
                <a:xfrm>
                  <a:off x="2167382" y="5509851"/>
                  <a:ext cx="3529428" cy="49244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.   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𝐻𝑆</m:t>
                            </m:r>
                          </m:sub>
                        </m:sSub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55DF0C71-6D7A-DF21-A02F-01F5E7CF64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7382" y="5509851"/>
                  <a:ext cx="3529428" cy="492443"/>
                </a:xfrm>
                <a:prstGeom prst="rect">
                  <a:avLst/>
                </a:prstGeom>
                <a:blipFill>
                  <a:blip r:embed="rId9"/>
                  <a:stretch>
                    <a:fillRect l="-1075" t="-7500" r="-717" b="-3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17C11BD-737D-F9AD-7A9F-6BE2A3D25B17}"/>
              </a:ext>
            </a:extLst>
          </p:cNvPr>
          <p:cNvSpPr txBox="1">
            <a:spLocks/>
          </p:cNvSpPr>
          <p:nvPr/>
        </p:nvSpPr>
        <p:spPr>
          <a:xfrm>
            <a:off x="514471" y="1647683"/>
            <a:ext cx="11160078" cy="45084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Arial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388" indent="-227013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25425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227013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Arial"/>
                <a:cs typeface="Arial"/>
              </a:rPr>
              <a:t>Keep parameterized circuits parameterized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Arial"/>
                <a:cs typeface="Arial"/>
              </a:rPr>
              <a:t>Use constrained numerical optimization to round parameters to “friendly” values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Arial"/>
                <a:cs typeface="Arial"/>
              </a:rPr>
              <a:t>Fits in very well with </a:t>
            </a:r>
            <a:r>
              <a:rPr lang="en-US" sz="2400" dirty="0" err="1">
                <a:latin typeface="Arial"/>
                <a:cs typeface="Arial"/>
              </a:rPr>
              <a:t>BQSKit’s</a:t>
            </a:r>
            <a:r>
              <a:rPr lang="en-US" sz="2400" dirty="0">
                <a:latin typeface="Arial"/>
                <a:cs typeface="Arial"/>
              </a:rPr>
              <a:t> IR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40844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3511C-4E54-77BE-F747-7E18BF620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Decomposing parameterized gates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382495-DE74-F0B0-41B6-B74148C3AA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11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EEA3B35-5B78-BBB3-3BAC-2D14D020369B}"/>
              </a:ext>
            </a:extLst>
          </p:cNvPr>
          <p:cNvGrpSpPr/>
          <p:nvPr/>
        </p:nvGrpSpPr>
        <p:grpSpPr>
          <a:xfrm>
            <a:off x="1674536" y="2598081"/>
            <a:ext cx="3840988" cy="2734367"/>
            <a:chOff x="1879866" y="3298869"/>
            <a:chExt cx="3840988" cy="273436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C3ECAA5D-53C4-8A3B-4BE5-1E242A17EF25}"/>
                </a:ext>
              </a:extLst>
            </p:cNvPr>
            <p:cNvGrpSpPr/>
            <p:nvPr/>
          </p:nvGrpSpPr>
          <p:grpSpPr>
            <a:xfrm>
              <a:off x="2314967" y="3672313"/>
              <a:ext cx="2970786" cy="2360923"/>
              <a:chOff x="2184348" y="3582250"/>
              <a:chExt cx="2970786" cy="2360923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78AAD958-F04F-5D4E-AAD8-9D72F9BCF1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9025" t="25828" r="28992" b="50346"/>
              <a:stretch>
                <a:fillRect/>
              </a:stretch>
            </p:blipFill>
            <p:spPr>
              <a:xfrm>
                <a:off x="2184348" y="4890236"/>
                <a:ext cx="1485393" cy="1052937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F51FD140-EE38-2FED-7243-52C21E36B4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9025" t="25828" r="28992" b="50346"/>
              <a:stretch>
                <a:fillRect/>
              </a:stretch>
            </p:blipFill>
            <p:spPr>
              <a:xfrm>
                <a:off x="3669741" y="4236243"/>
                <a:ext cx="1485393" cy="1052937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41CB3A77-FDE3-9EF4-37C6-093B5C2987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9025" t="25828" r="28992" b="50346"/>
              <a:stretch>
                <a:fillRect/>
              </a:stretch>
            </p:blipFill>
            <p:spPr>
              <a:xfrm>
                <a:off x="2184348" y="3582250"/>
                <a:ext cx="1485393" cy="1052937"/>
              </a:xfrm>
              <a:prstGeom prst="rect">
                <a:avLst/>
              </a:prstGeom>
            </p:spPr>
          </p:pic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E343CD1-4376-0E78-7489-8F46EAB3BC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4348" y="3715633"/>
                <a:ext cx="2970786" cy="0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A8C46F9A-2A6E-957A-AC4E-9F67956AA6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48202" y="4370651"/>
                <a:ext cx="2006932" cy="0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18085A0-4584-87FE-76A9-A95739F302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4348" y="4370651"/>
                <a:ext cx="537433" cy="0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79289408-2B99-467D-DFCA-A7BAC8F0F4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48202" y="5679677"/>
                <a:ext cx="2006932" cy="0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A83BED6-8B9D-48EC-E11E-DDEC6B0945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84348" y="5679677"/>
                <a:ext cx="537433" cy="0"/>
              </a:xfrm>
              <a:prstGeom prst="line">
                <a:avLst/>
              </a:prstGeom>
              <a:ln w="38100">
                <a:solidFill>
                  <a:srgbClr val="00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DC2FC36-26DF-858C-3172-7FD283B3F916}"/>
                    </a:ext>
                  </a:extLst>
                </p:cNvPr>
                <p:cNvSpPr txBox="1"/>
                <p:nvPr/>
              </p:nvSpPr>
              <p:spPr>
                <a:xfrm>
                  <a:off x="1879866" y="3298869"/>
                  <a:ext cx="384098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1. Prepare circuits in Clifford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4DC2FC36-26DF-858C-3172-7FD283B3F91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9866" y="3298869"/>
                  <a:ext cx="3840988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650" t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3806ED-0E41-E1C8-82BE-23E8C56D9C2C}"/>
              </a:ext>
            </a:extLst>
          </p:cNvPr>
          <p:cNvGrpSpPr/>
          <p:nvPr/>
        </p:nvGrpSpPr>
        <p:grpSpPr>
          <a:xfrm>
            <a:off x="6691655" y="2600782"/>
            <a:ext cx="3894143" cy="2792729"/>
            <a:chOff x="6094510" y="3303695"/>
            <a:chExt cx="3894143" cy="279272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77AE72D-A845-E6B2-E2BC-8C3A605DA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2353" t="16125" r="1654" b="47782"/>
            <a:stretch>
              <a:fillRect/>
            </a:stretch>
          </p:blipFill>
          <p:spPr>
            <a:xfrm>
              <a:off x="6495267" y="3672313"/>
              <a:ext cx="3012824" cy="2424111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794AD4C-585E-03B2-5AA6-073AF017711E}"/>
                    </a:ext>
                  </a:extLst>
                </p:cNvPr>
                <p:cNvSpPr txBox="1"/>
                <p:nvPr/>
              </p:nvSpPr>
              <p:spPr>
                <a:xfrm>
                  <a:off x="6094510" y="3303695"/>
                  <a:ext cx="38941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2. Convert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a14:m>
                  <a:r>
                    <a:rPr lang="en-US" dirty="0"/>
                    <a:t> gates to Clifford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endParaRPr lang="en-US" dirty="0"/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794AD4C-585E-03B2-5AA6-073AF01771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4510" y="3303695"/>
                  <a:ext cx="3894143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629" t="-666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4A20792-C228-8146-AAE1-4CB08E63550A}"/>
              </a:ext>
            </a:extLst>
          </p:cNvPr>
          <p:cNvSpPr txBox="1">
            <a:spLocks/>
          </p:cNvSpPr>
          <p:nvPr/>
        </p:nvSpPr>
        <p:spPr>
          <a:xfrm>
            <a:off x="594361" y="1328001"/>
            <a:ext cx="10972799" cy="45084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Arial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388" indent="-227013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25425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227013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Arial"/>
                <a:cs typeface="Arial"/>
              </a:rPr>
              <a:t>The </a:t>
            </a:r>
            <a:r>
              <a:rPr lang="en-US" sz="2400" i="1" dirty="0" err="1">
                <a:latin typeface="Arial"/>
                <a:cs typeface="Arial"/>
              </a:rPr>
              <a:t>gridsynth</a:t>
            </a:r>
            <a:r>
              <a:rPr lang="en-US" sz="2400" dirty="0">
                <a:latin typeface="Arial"/>
                <a:cs typeface="Arial"/>
              </a:rPr>
              <a:t> algorithm is leveraged to decompose parameterized gates</a:t>
            </a:r>
          </a:p>
        </p:txBody>
      </p:sp>
    </p:spTree>
    <p:extLst>
      <p:ext uri="{BB962C8B-B14F-4D97-AF65-F5344CB8AC3E}">
        <p14:creationId xmlns:p14="http://schemas.microsoft.com/office/powerpoint/2010/main" val="12278149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1E273-8542-D93C-E849-C06961AC7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40FB-30D9-413B-DF2D-6F5F2F109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Approximate Ensembles – FT Compilation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F02953-C629-2820-923A-5CEBEE9AC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8AFE3ED-1AF0-D1D3-A44C-16B02FDE0DA4}"/>
              </a:ext>
            </a:extLst>
          </p:cNvPr>
          <p:cNvSpPr txBox="1">
            <a:spLocks/>
          </p:cNvSpPr>
          <p:nvPr/>
        </p:nvSpPr>
        <p:spPr>
          <a:xfrm>
            <a:off x="317677" y="1212326"/>
            <a:ext cx="11249483" cy="3651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Arial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388" indent="-227013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25425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227013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latin typeface="Arial"/>
                <a:cs typeface="Arial"/>
              </a:rPr>
              <a:t>Main Idea: </a:t>
            </a:r>
            <a:r>
              <a:rPr lang="en-US" dirty="0">
                <a:latin typeface="Arial"/>
                <a:cs typeface="Arial"/>
              </a:rPr>
              <a:t>By generating a convex set of approximate circuits, we can create a unital channel that quadratically scales the approximation error!</a:t>
            </a:r>
          </a:p>
        </p:txBody>
      </p:sp>
      <p:pic>
        <p:nvPicPr>
          <p:cNvPr id="5" name="Picture 4" descr="A diagram of a method of synthesis&#10;&#10;Description automatically generated with medium confidence">
            <a:extLst>
              <a:ext uri="{FF2B5EF4-FFF2-40B4-BE49-F238E27FC236}">
                <a16:creationId xmlns:a16="http://schemas.microsoft.com/office/drawing/2014/main" id="{6A6A722F-1CA0-7449-0121-FB88ADB0C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09" y="2006221"/>
            <a:ext cx="10966289" cy="4394579"/>
          </a:xfrm>
          <a:prstGeom prst="rect">
            <a:avLst/>
          </a:prstGeom>
        </p:spPr>
      </p:pic>
      <p:sp>
        <p:nvSpPr>
          <p:cNvPr id="6" name="Content Placeholder 66">
            <a:extLst>
              <a:ext uri="{FF2B5EF4-FFF2-40B4-BE49-F238E27FC236}">
                <a16:creationId xmlns:a16="http://schemas.microsoft.com/office/drawing/2014/main" id="{72B6122D-8BDE-E533-60CE-49E24DF9823C}"/>
              </a:ext>
            </a:extLst>
          </p:cNvPr>
          <p:cNvSpPr txBox="1">
            <a:spLocks/>
          </p:cNvSpPr>
          <p:nvPr/>
        </p:nvSpPr>
        <p:spPr>
          <a:xfrm>
            <a:off x="4370249" y="3761590"/>
            <a:ext cx="3243056" cy="7014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121900" tIns="45720" rIns="121900" bIns="4572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indent="-171450" algn="l" rtl="0">
              <a:lnSpc>
                <a:spcPct val="115000"/>
              </a:lnSpc>
              <a:spcBef>
                <a:spcPts val="285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○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■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○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52396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Find minimal, further approximations using BQSKit</a:t>
            </a:r>
          </a:p>
        </p:txBody>
      </p:sp>
      <p:sp>
        <p:nvSpPr>
          <p:cNvPr id="7" name="Content Placeholder 66">
            <a:extLst>
              <a:ext uri="{FF2B5EF4-FFF2-40B4-BE49-F238E27FC236}">
                <a16:creationId xmlns:a16="http://schemas.microsoft.com/office/drawing/2014/main" id="{19286223-4E7D-7CF8-DC77-324D3527CD03}"/>
              </a:ext>
            </a:extLst>
          </p:cNvPr>
          <p:cNvSpPr txBox="1">
            <a:spLocks/>
          </p:cNvSpPr>
          <p:nvPr/>
        </p:nvSpPr>
        <p:spPr>
          <a:xfrm>
            <a:off x="8136836" y="4875894"/>
            <a:ext cx="2973124" cy="13068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40" tIns="45720" rIns="91440" bIns="4572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indent="-171450" algn="l" rtl="0">
              <a:lnSpc>
                <a:spcPct val="115000"/>
              </a:lnSpc>
              <a:spcBef>
                <a:spcPts val="285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○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■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○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52396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Expand and Diversity approximate solutions to form a convex hull around the target unitary</a:t>
            </a:r>
          </a:p>
        </p:txBody>
      </p:sp>
      <p:sp>
        <p:nvSpPr>
          <p:cNvPr id="8" name="Content Placeholder 66">
            <a:extLst>
              <a:ext uri="{FF2B5EF4-FFF2-40B4-BE49-F238E27FC236}">
                <a16:creationId xmlns:a16="http://schemas.microsoft.com/office/drawing/2014/main" id="{421A2A70-A5B1-3AA7-C132-598B413E238B}"/>
              </a:ext>
            </a:extLst>
          </p:cNvPr>
          <p:cNvSpPr txBox="1">
            <a:spLocks/>
          </p:cNvSpPr>
          <p:nvPr/>
        </p:nvSpPr>
        <p:spPr>
          <a:xfrm>
            <a:off x="519026" y="3764181"/>
            <a:ext cx="3105678" cy="6717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40" tIns="45720" rIns="91440" bIns="4572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indent="-171450" algn="l" rtl="0">
              <a:lnSpc>
                <a:spcPct val="115000"/>
              </a:lnSpc>
              <a:spcBef>
                <a:spcPts val="285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○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■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○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Partition circuit to scale to larger algorithms</a:t>
            </a:r>
          </a:p>
        </p:txBody>
      </p:sp>
      <p:sp>
        <p:nvSpPr>
          <p:cNvPr id="9" name="Content Placeholder 66">
            <a:extLst>
              <a:ext uri="{FF2B5EF4-FFF2-40B4-BE49-F238E27FC236}">
                <a16:creationId xmlns:a16="http://schemas.microsoft.com/office/drawing/2014/main" id="{73C47B33-FAC0-0EC3-EEA2-8B2AC335E44B}"/>
              </a:ext>
            </a:extLst>
          </p:cNvPr>
          <p:cNvSpPr txBox="1">
            <a:spLocks/>
          </p:cNvSpPr>
          <p:nvPr/>
        </p:nvSpPr>
        <p:spPr>
          <a:xfrm>
            <a:off x="4108419" y="6223687"/>
            <a:ext cx="3673171" cy="6049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40" tIns="45720" rIns="91440" bIns="4572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indent="-171450" algn="l" rtl="0">
              <a:lnSpc>
                <a:spcPct val="115000"/>
              </a:lnSpc>
              <a:spcBef>
                <a:spcPts val="285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○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■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○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52396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Quadratic Program finds corresponding probability distribution to minimize error</a:t>
            </a:r>
          </a:p>
        </p:txBody>
      </p:sp>
      <p:sp>
        <p:nvSpPr>
          <p:cNvPr id="10" name="Content Placeholder 66">
            <a:extLst>
              <a:ext uri="{FF2B5EF4-FFF2-40B4-BE49-F238E27FC236}">
                <a16:creationId xmlns:a16="http://schemas.microsoft.com/office/drawing/2014/main" id="{A50B141F-8A16-2455-EB3F-DF5DF815ABBA}"/>
              </a:ext>
            </a:extLst>
          </p:cNvPr>
          <p:cNvSpPr txBox="1">
            <a:spLocks/>
          </p:cNvSpPr>
          <p:nvPr/>
        </p:nvSpPr>
        <p:spPr>
          <a:xfrm>
            <a:off x="314215" y="6223687"/>
            <a:ext cx="3483762" cy="6049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40" tIns="45720" rIns="91440" bIns="4572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indent="-171450" algn="l" rtl="0">
              <a:lnSpc>
                <a:spcPct val="115000"/>
              </a:lnSpc>
              <a:spcBef>
                <a:spcPts val="285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○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■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○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52396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Recombine ensembles from each block to form a set of full circuits</a:t>
            </a:r>
          </a:p>
        </p:txBody>
      </p:sp>
    </p:spTree>
    <p:extLst>
      <p:ext uri="{BB962C8B-B14F-4D97-AF65-F5344CB8AC3E}">
        <p14:creationId xmlns:p14="http://schemas.microsoft.com/office/powerpoint/2010/main" val="1547336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F3FE1-7097-7E83-BF76-171381056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83D6CBC-D56A-69EE-6CC4-57B28EEB6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73" y="1986518"/>
            <a:ext cx="10957987" cy="436983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C95DAF6-68DE-0B9F-43F6-80CB8EEEB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Approximate Ensembles – FT Compilation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79AD1A-1383-AAFE-5BE2-EEADABA93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53E352A-5362-86F0-6014-151C4221CB91}"/>
              </a:ext>
            </a:extLst>
          </p:cNvPr>
          <p:cNvSpPr txBox="1">
            <a:spLocks/>
          </p:cNvSpPr>
          <p:nvPr/>
        </p:nvSpPr>
        <p:spPr>
          <a:xfrm>
            <a:off x="317677" y="1229016"/>
            <a:ext cx="11249483" cy="3651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Arial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388" indent="-227013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25425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227013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en-US" b="1" dirty="0">
                <a:latin typeface="Arial"/>
                <a:cs typeface="Arial"/>
              </a:rPr>
              <a:t>Optimization Shift: </a:t>
            </a:r>
            <a:r>
              <a:rPr lang="en-US" dirty="0">
                <a:latin typeface="Arial"/>
                <a:cs typeface="Arial"/>
              </a:rPr>
              <a:t>For FT Compilation, we shift our optimization criteria to eliminate magic (T) states!</a:t>
            </a:r>
          </a:p>
        </p:txBody>
      </p:sp>
      <p:sp>
        <p:nvSpPr>
          <p:cNvPr id="6" name="Content Placeholder 66">
            <a:extLst>
              <a:ext uri="{FF2B5EF4-FFF2-40B4-BE49-F238E27FC236}">
                <a16:creationId xmlns:a16="http://schemas.microsoft.com/office/drawing/2014/main" id="{1596845F-EDFA-84A4-610B-5D5FE86D4FAB}"/>
              </a:ext>
            </a:extLst>
          </p:cNvPr>
          <p:cNvSpPr txBox="1">
            <a:spLocks/>
          </p:cNvSpPr>
          <p:nvPr/>
        </p:nvSpPr>
        <p:spPr>
          <a:xfrm>
            <a:off x="4151572" y="3725979"/>
            <a:ext cx="3243056" cy="7014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121900" tIns="45720" rIns="121900" bIns="4572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indent="-171450" algn="l" rtl="0">
              <a:lnSpc>
                <a:spcPct val="115000"/>
              </a:lnSpc>
              <a:spcBef>
                <a:spcPts val="285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○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■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○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52396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Find minimal, further approximations using BQSKit</a:t>
            </a:r>
          </a:p>
        </p:txBody>
      </p:sp>
      <p:sp>
        <p:nvSpPr>
          <p:cNvPr id="7" name="Content Placeholder 66">
            <a:extLst>
              <a:ext uri="{FF2B5EF4-FFF2-40B4-BE49-F238E27FC236}">
                <a16:creationId xmlns:a16="http://schemas.microsoft.com/office/drawing/2014/main" id="{0E36379C-5ED7-7B2D-CE78-DB6026E5B8AE}"/>
              </a:ext>
            </a:extLst>
          </p:cNvPr>
          <p:cNvSpPr txBox="1">
            <a:spLocks/>
          </p:cNvSpPr>
          <p:nvPr/>
        </p:nvSpPr>
        <p:spPr>
          <a:xfrm>
            <a:off x="7967476" y="6182743"/>
            <a:ext cx="3245830" cy="6049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40" tIns="45720" rIns="91440" bIns="4572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indent="-171450" algn="l" rtl="0">
              <a:lnSpc>
                <a:spcPct val="115000"/>
              </a:lnSpc>
              <a:spcBef>
                <a:spcPts val="285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○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■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○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52396" indent="0" algn="ctr">
              <a:buNone/>
            </a:pPr>
            <a:r>
              <a:rPr lang="en-US" sz="1600" dirty="0">
                <a:solidFill>
                  <a:srgbClr val="C00000"/>
                </a:solidFill>
              </a:rPr>
              <a:t>Diversify with lower precision </a:t>
            </a:r>
            <a:r>
              <a:rPr lang="en-US" sz="1600" dirty="0" err="1">
                <a:solidFill>
                  <a:srgbClr val="C00000"/>
                </a:solidFill>
              </a:rPr>
              <a:t>gridsynth</a:t>
            </a:r>
            <a:r>
              <a:rPr lang="en-US" sz="1600" dirty="0">
                <a:solidFill>
                  <a:srgbClr val="C00000"/>
                </a:solidFill>
              </a:rPr>
              <a:t> decompositions</a:t>
            </a:r>
          </a:p>
        </p:txBody>
      </p:sp>
      <p:sp>
        <p:nvSpPr>
          <p:cNvPr id="8" name="Content Placeholder 66">
            <a:extLst>
              <a:ext uri="{FF2B5EF4-FFF2-40B4-BE49-F238E27FC236}">
                <a16:creationId xmlns:a16="http://schemas.microsoft.com/office/drawing/2014/main" id="{DAA87688-4C52-6E8B-37A3-0A2D533CB830}"/>
              </a:ext>
            </a:extLst>
          </p:cNvPr>
          <p:cNvSpPr txBox="1">
            <a:spLocks/>
          </p:cNvSpPr>
          <p:nvPr/>
        </p:nvSpPr>
        <p:spPr>
          <a:xfrm>
            <a:off x="573618" y="3764181"/>
            <a:ext cx="3105678" cy="6717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40" tIns="45720" rIns="91440" bIns="4572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indent="-171450" algn="l" rtl="0">
              <a:lnSpc>
                <a:spcPct val="115000"/>
              </a:lnSpc>
              <a:spcBef>
                <a:spcPts val="285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○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■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○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Partition circuit to scale to larger algorithms</a:t>
            </a:r>
          </a:p>
        </p:txBody>
      </p:sp>
      <p:sp>
        <p:nvSpPr>
          <p:cNvPr id="9" name="Content Placeholder 66">
            <a:extLst>
              <a:ext uri="{FF2B5EF4-FFF2-40B4-BE49-F238E27FC236}">
                <a16:creationId xmlns:a16="http://schemas.microsoft.com/office/drawing/2014/main" id="{5C1C6896-4C2D-81BB-39A6-A0144C3A769E}"/>
              </a:ext>
            </a:extLst>
          </p:cNvPr>
          <p:cNvSpPr txBox="1">
            <a:spLocks/>
          </p:cNvSpPr>
          <p:nvPr/>
        </p:nvSpPr>
        <p:spPr>
          <a:xfrm>
            <a:off x="4122067" y="6182743"/>
            <a:ext cx="3673171" cy="6049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40" tIns="45720" rIns="91440" bIns="4572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indent="-171450" algn="l" rtl="0">
              <a:lnSpc>
                <a:spcPct val="115000"/>
              </a:lnSpc>
              <a:spcBef>
                <a:spcPts val="285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○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■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○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52396" indent="0" algn="ctr">
              <a:buNone/>
            </a:pPr>
            <a:r>
              <a:rPr lang="en-US" sz="1500" dirty="0">
                <a:solidFill>
                  <a:schemeClr val="tx1"/>
                </a:solidFill>
              </a:rPr>
              <a:t>Quadratic Program finds corresponding probability distribution to minimize error</a:t>
            </a:r>
          </a:p>
        </p:txBody>
      </p:sp>
      <p:sp>
        <p:nvSpPr>
          <p:cNvPr id="10" name="Content Placeholder 66">
            <a:extLst>
              <a:ext uri="{FF2B5EF4-FFF2-40B4-BE49-F238E27FC236}">
                <a16:creationId xmlns:a16="http://schemas.microsoft.com/office/drawing/2014/main" id="{7A9CFC64-23C9-4962-981A-7702B673D2BB}"/>
              </a:ext>
            </a:extLst>
          </p:cNvPr>
          <p:cNvSpPr txBox="1">
            <a:spLocks/>
          </p:cNvSpPr>
          <p:nvPr/>
        </p:nvSpPr>
        <p:spPr>
          <a:xfrm>
            <a:off x="256083" y="6182743"/>
            <a:ext cx="3483762" cy="6049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40" tIns="45720" rIns="91440" bIns="4572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342900" marR="0" lvl="1" indent="-171450" algn="l" rtl="0">
              <a:lnSpc>
                <a:spcPct val="115000"/>
              </a:lnSpc>
              <a:spcBef>
                <a:spcPts val="285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○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■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●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○"/>
              <a:defRPr sz="1400" b="0" i="0" u="none" strike="noStrike" cap="none" baseline="0">
                <a:solidFill>
                  <a:schemeClr val="dk2"/>
                </a:solidFill>
                <a:latin typeface="Arial" panose="020B0604020202020204" pitchFamily="34" charset="0"/>
                <a:ea typeface="+mn-ea"/>
                <a:cs typeface="+mn-cs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marL="152396" indent="0" algn="ctr">
              <a:buNone/>
            </a:pPr>
            <a:r>
              <a:rPr lang="en-US" sz="1600" dirty="0">
                <a:solidFill>
                  <a:schemeClr val="tx1"/>
                </a:solidFill>
              </a:rPr>
              <a:t>Recombine ensembles from each block to form a set of full circuits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66">
                <a:extLst>
                  <a:ext uri="{FF2B5EF4-FFF2-40B4-BE49-F238E27FC236}">
                    <a16:creationId xmlns:a16="http://schemas.microsoft.com/office/drawing/2014/main" id="{BAEC6C9A-A052-B10E-BC5A-932344BEC3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823185" y="3723513"/>
                <a:ext cx="3390121" cy="50346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spcFirstLastPara="1" wrap="square" lIns="91440" tIns="45720" rIns="91440" bIns="4572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800"/>
                  <a:buFont typeface="Arial"/>
                  <a:buChar char="●"/>
                  <a:defRPr sz="1800" b="0" i="0" u="none" strike="noStrike" cap="none">
                    <a:solidFill>
                      <a:schemeClr val="dk2"/>
                    </a:solidFill>
                    <a:latin typeface="+mn-lt"/>
                    <a:ea typeface="+mn-ea"/>
                    <a:cs typeface="+mn-cs"/>
                    <a:sym typeface="Arial"/>
                  </a:defRPr>
                </a:lvl1pPr>
                <a:lvl2pPr marL="342900" marR="0" lvl="1" indent="-171450" algn="l" rtl="0">
                  <a:lnSpc>
                    <a:spcPct val="115000"/>
                  </a:lnSpc>
                  <a:spcBef>
                    <a:spcPts val="285"/>
                  </a:spcBef>
                  <a:spcAft>
                    <a:spcPts val="0"/>
                  </a:spcAft>
                  <a:buClr>
                    <a:schemeClr val="accent2"/>
                  </a:buClr>
                  <a:buSzPts val="1400"/>
                  <a:buFont typeface="Arial"/>
                  <a:buChar char="○"/>
                  <a:defRPr sz="1400" b="0" i="0" u="none" strike="noStrike" cap="none" baseline="0">
                    <a:solidFill>
                      <a:schemeClr val="dk2"/>
                    </a:solidFill>
                    <a:latin typeface="Arial" panose="020B0604020202020204" pitchFamily="34" charset="0"/>
                    <a:ea typeface="+mn-ea"/>
                    <a:cs typeface="+mn-cs"/>
                    <a:sym typeface="Arial"/>
                  </a:defRPr>
                </a:lvl2pPr>
                <a:lvl3pPr marL="1371600" marR="0" lvl="2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400"/>
                  <a:buFont typeface="Arial"/>
                  <a:buChar char="■"/>
                  <a:defRPr sz="1400" b="0" i="0" u="none" strike="noStrike" cap="none" baseline="0">
                    <a:solidFill>
                      <a:schemeClr val="dk2"/>
                    </a:solidFill>
                    <a:latin typeface="Arial" panose="020B0604020202020204" pitchFamily="34" charset="0"/>
                    <a:ea typeface="+mn-ea"/>
                    <a:cs typeface="+mn-cs"/>
                    <a:sym typeface="Arial"/>
                  </a:defRPr>
                </a:lvl3pPr>
                <a:lvl4pPr marL="1828800" marR="0" lvl="3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400"/>
                  <a:buFont typeface="Arial"/>
                  <a:buChar char="●"/>
                  <a:defRPr sz="1400" b="0" i="0" u="none" strike="noStrike" cap="none" baseline="0">
                    <a:solidFill>
                      <a:schemeClr val="dk2"/>
                    </a:solidFill>
                    <a:latin typeface="Arial" panose="020B0604020202020204" pitchFamily="34" charset="0"/>
                    <a:ea typeface="+mn-ea"/>
                    <a:cs typeface="+mn-cs"/>
                    <a:sym typeface="Arial"/>
                  </a:defRPr>
                </a:lvl4pPr>
                <a:lvl5pPr marL="2286000" marR="0" lvl="4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accent2"/>
                  </a:buClr>
                  <a:buSzPts val="1400"/>
                  <a:buFont typeface="Arial"/>
                  <a:buChar char="○"/>
                  <a:defRPr sz="1400" b="0" i="0" u="none" strike="noStrike" cap="none" baseline="0">
                    <a:solidFill>
                      <a:schemeClr val="dk2"/>
                    </a:solidFill>
                    <a:latin typeface="Arial" panose="020B0604020202020204" pitchFamily="34" charset="0"/>
                    <a:ea typeface="+mn-ea"/>
                    <a:cs typeface="+mn-cs"/>
                    <a:sym typeface="Arial"/>
                  </a:defRPr>
                </a:lvl5pPr>
                <a:lvl6pPr marL="2743200" marR="0" lvl="5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+mn-lt"/>
                    <a:ea typeface="+mn-ea"/>
                    <a:cs typeface="+mn-cs"/>
                    <a:sym typeface="Arial"/>
                  </a:defRPr>
                </a:lvl6pPr>
                <a:lvl7pPr marL="3200400" marR="0" lvl="6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●"/>
                  <a:defRPr sz="1400" b="0" i="0" u="none" strike="noStrike" cap="none">
                    <a:solidFill>
                      <a:schemeClr val="dk2"/>
                    </a:solidFill>
                    <a:latin typeface="+mn-lt"/>
                    <a:ea typeface="+mn-ea"/>
                    <a:cs typeface="+mn-cs"/>
                    <a:sym typeface="Arial"/>
                  </a:defRPr>
                </a:lvl7pPr>
                <a:lvl8pPr marL="3657600" marR="0" lvl="7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○"/>
                  <a:defRPr sz="1400" b="0" i="0" u="none" strike="noStrike" cap="none">
                    <a:solidFill>
                      <a:schemeClr val="dk2"/>
                    </a:solidFill>
                    <a:latin typeface="+mn-lt"/>
                    <a:ea typeface="+mn-ea"/>
                    <a:cs typeface="+mn-cs"/>
                    <a:sym typeface="Arial"/>
                  </a:defRPr>
                </a:lvl8pPr>
                <a:lvl9pPr marL="4114800" marR="0" lvl="8" indent="-31750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2"/>
                  </a:buClr>
                  <a:buSzPts val="1400"/>
                  <a:buFont typeface="Arial"/>
                  <a:buChar char="■"/>
                  <a:defRPr sz="1400" b="0" i="0" u="none" strike="noStrike" cap="none">
                    <a:solidFill>
                      <a:schemeClr val="dk2"/>
                    </a:solidFill>
                    <a:latin typeface="+mn-lt"/>
                    <a:ea typeface="+mn-ea"/>
                    <a:cs typeface="+mn-cs"/>
                    <a:sym typeface="Arial"/>
                  </a:defRPr>
                </a:lvl9pPr>
              </a:lstStyle>
              <a:p>
                <a:pPr marL="152396" indent="0" algn="ctr">
                  <a:buNone/>
                </a:pPr>
                <a:r>
                  <a:rPr lang="en-US" sz="1600" dirty="0">
                    <a:solidFill>
                      <a:srgbClr val="C00000"/>
                    </a:solidFill>
                  </a:rPr>
                  <a:t>Fix as many RZs to multiples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16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US" sz="16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66">
                <a:extLst>
                  <a:ext uri="{FF2B5EF4-FFF2-40B4-BE49-F238E27FC236}">
                    <a16:creationId xmlns:a16="http://schemas.microsoft.com/office/drawing/2014/main" id="{BAEC6C9A-A052-B10E-BC5A-932344BEC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3185" y="3723513"/>
                <a:ext cx="3390121" cy="5034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6664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B5F88-F758-ED15-A867-15E590C2E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CA6FC-05E7-7AFC-3842-B4A035E5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with BQSKit (and BQSKit-FT) (soon to be released)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DA6FB9-ADBE-77BB-C241-76058CD41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4" name="Picture 3" descr="A screen shot of a computer&#10;&#10;Description automatically generated">
            <a:extLst>
              <a:ext uri="{FF2B5EF4-FFF2-40B4-BE49-F238E27FC236}">
                <a16:creationId xmlns:a16="http://schemas.microsoft.com/office/drawing/2014/main" id="{1FFEB602-13C2-2E67-680B-014551B68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37" y="2331063"/>
            <a:ext cx="11989359" cy="270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753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2D854-3252-E1BF-C117-5947135A0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Bounding Diamond Distance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9DAFE0-1BCC-9647-A5A0-66D28B9DF6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E0AD6B-DD45-5BCE-4D98-6294D367C7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2" t="11140" r="9079"/>
          <a:stretch/>
        </p:blipFill>
        <p:spPr>
          <a:xfrm>
            <a:off x="6414039" y="250346"/>
            <a:ext cx="5428675" cy="3296207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B335FA7-15D4-497E-B12F-9050D42C2AB7}"/>
              </a:ext>
            </a:extLst>
          </p:cNvPr>
          <p:cNvSpPr txBox="1">
            <a:spLocks/>
          </p:cNvSpPr>
          <p:nvPr/>
        </p:nvSpPr>
        <p:spPr>
          <a:xfrm>
            <a:off x="464403" y="1499157"/>
            <a:ext cx="5373021" cy="45084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800"/>
              </a:spcBef>
              <a:buClr>
                <a:schemeClr val="accent2"/>
              </a:buClr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457200" rtl="0" eaLnBrk="1" latinLnBrk="0" hangingPunct="1">
              <a:lnSpc>
                <a:spcPct val="110000"/>
              </a:lnSpc>
              <a:spcBef>
                <a:spcPts val="400"/>
              </a:spcBef>
              <a:buClr>
                <a:schemeClr val="accent2"/>
              </a:buClr>
              <a:buFont typeface="Arial"/>
              <a:buChar char="–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7388" indent="-227013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2813" indent="-225425" algn="l" defTabSz="457200" rtl="0" eaLnBrk="1" latinLnBrk="0" hangingPunct="1">
              <a:spcBef>
                <a:spcPts val="400"/>
              </a:spcBef>
              <a:buClr>
                <a:schemeClr val="accent2"/>
              </a:buClr>
              <a:buSzPct val="85000"/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39825" indent="-227013" algn="l" defTabSz="4572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Arial"/>
                <a:cs typeface="Arial"/>
              </a:rPr>
              <a:t>Our ensemble approach has an additional benefit:</a:t>
            </a:r>
            <a:r>
              <a:rPr lang="en-US" sz="2400" b="1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We can </a:t>
            </a:r>
            <a:r>
              <a:rPr lang="en-US" sz="2400" b="1" dirty="0">
                <a:latin typeface="Arial"/>
                <a:cs typeface="Arial"/>
              </a:rPr>
              <a:t>verifiably bound</a:t>
            </a:r>
            <a:r>
              <a:rPr lang="en-US" sz="2400" dirty="0">
                <a:latin typeface="Arial"/>
                <a:cs typeface="Arial"/>
              </a:rPr>
              <a:t> the </a:t>
            </a:r>
            <a:r>
              <a:rPr lang="en-US" sz="2400" i="1" dirty="0">
                <a:latin typeface="Arial"/>
                <a:cs typeface="Arial"/>
              </a:rPr>
              <a:t>diamond distance </a:t>
            </a:r>
            <a:r>
              <a:rPr lang="en-US" sz="2400" dirty="0">
                <a:latin typeface="Arial"/>
                <a:cs typeface="Arial"/>
              </a:rPr>
              <a:t>of the final channel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r>
              <a:rPr lang="en-US" sz="2400" dirty="0">
                <a:latin typeface="Arial"/>
                <a:cs typeface="Arial"/>
              </a:rPr>
              <a:t>The diamond distance is equal to the worst-case trace distance over all input states</a:t>
            </a:r>
          </a:p>
          <a:p>
            <a:pPr lvl="1">
              <a:lnSpc>
                <a:spcPct val="100000"/>
              </a:lnSpc>
            </a:pPr>
            <a:r>
              <a:rPr lang="en-US" sz="2400" dirty="0">
                <a:latin typeface="Arial"/>
                <a:cs typeface="Arial"/>
              </a:rPr>
              <a:t>This allows us to bound distances of circuit observables</a:t>
            </a:r>
          </a:p>
          <a:p>
            <a:pPr lvl="1">
              <a:lnSpc>
                <a:spcPct val="100000"/>
              </a:lnSpc>
            </a:pPr>
            <a:r>
              <a:rPr lang="en-US" sz="2400" dirty="0">
                <a:latin typeface="Arial"/>
                <a:cs typeface="Arial"/>
              </a:rPr>
              <a:t>Diamond Distance is bound by the sum over partitions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B9A06C-65CC-E992-4962-EB2DD519AA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07" t="11403" r="8133"/>
          <a:stretch/>
        </p:blipFill>
        <p:spPr>
          <a:xfrm>
            <a:off x="6354578" y="3546553"/>
            <a:ext cx="5547598" cy="330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9028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77F3C-55D8-29E3-11BF-2BDC1DA53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Berkeley Quantum Synthesis Toolkit Tutorial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292345-99AE-E945-172B-E1ABFCA249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09960" y="6356349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EF2EA88-E9D4-0C4F-A5DF-5FE49FAF8E2F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BB2955-BDFF-0C87-B12F-0A8A52A78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559" y="1239132"/>
            <a:ext cx="4469051" cy="268143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E342C2-8CCC-83CB-1B52-56B0E00F5DE7}"/>
              </a:ext>
            </a:extLst>
          </p:cNvPr>
          <p:cNvSpPr txBox="1"/>
          <p:nvPr/>
        </p:nvSpPr>
        <p:spPr>
          <a:xfrm>
            <a:off x="669877" y="4432857"/>
            <a:ext cx="595952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github.com/bqskit/bqskit-tutorial</a:t>
            </a:r>
          </a:p>
        </p:txBody>
      </p:sp>
      <p:pic>
        <p:nvPicPr>
          <p:cNvPr id="11" name="Picture 10" descr="Qr code&#10;&#10;Description automatically generated">
            <a:extLst>
              <a:ext uri="{FF2B5EF4-FFF2-40B4-BE49-F238E27FC236}">
                <a16:creationId xmlns:a16="http://schemas.microsoft.com/office/drawing/2014/main" id="{E33CE8B7-D2CC-0557-63AA-F0F44C356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6220" y="1644396"/>
            <a:ext cx="3569208" cy="3569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606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15608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</TotalTime>
  <Words>771</Words>
  <Application>Microsoft Macintosh PowerPoint</Application>
  <PresentationFormat>Widescreen</PresentationFormat>
  <Paragraphs>139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Office Theme</vt:lpstr>
      <vt:lpstr>Circuit Synthesis for Early Fault-Tolerant Quantum Computers</vt:lpstr>
      <vt:lpstr>BQSKit-FT</vt:lpstr>
      <vt:lpstr>BQSKit-FT</vt:lpstr>
      <vt:lpstr>Fault-tolerant gate sets</vt:lpstr>
      <vt:lpstr>Fault-tolerant gate sets: Clifford+T</vt:lpstr>
      <vt:lpstr>Fault-tolerant gate sets</vt:lpstr>
      <vt:lpstr>Fault-tolerant gate sets</vt:lpstr>
      <vt:lpstr>Search-based synthesis</vt:lpstr>
      <vt:lpstr>Synthesis by diagonalization</vt:lpstr>
      <vt:lpstr>Constrained optimization (NTRO)</vt:lpstr>
      <vt:lpstr>Decomposing parameterized gates</vt:lpstr>
      <vt:lpstr>Approximate Ensembles – FT Compilation</vt:lpstr>
      <vt:lpstr>Approximate Ensembles – FT Compilation</vt:lpstr>
      <vt:lpstr>How to use with BQSKit (and BQSKit-FT) (soon to be released)</vt:lpstr>
      <vt:lpstr>Bounding Diamond Distance</vt:lpstr>
      <vt:lpstr>Berkeley Quantum Synthesis Toolkit Tutorial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Mathias Weiden</dc:creator>
  <cp:lastModifiedBy>Mathias Weiden</cp:lastModifiedBy>
  <cp:revision>5</cp:revision>
  <dcterms:created xsi:type="dcterms:W3CDTF">2025-08-31T03:11:02Z</dcterms:created>
  <dcterms:modified xsi:type="dcterms:W3CDTF">2025-08-31T13:42:54Z</dcterms:modified>
</cp:coreProperties>
</file>